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4630400" cy="8229600"/>
  <p:notesSz cx="8229600" cy="14630400"/>
  <p:embeddedFontLst>
    <p:embeddedFont>
      <p:font typeface="Heebo Light" pitchFamily="2" charset="-79"/>
      <p:regular r:id="rId12"/>
    </p:embeddedFont>
    <p:embeddedFont>
      <p:font typeface="Montserrat" panose="00000500000000000000" pitchFamily="2" charset="0"/>
      <p:regular r:id="rId1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D0A2C"/>
    <a:srgbClr val="0020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67" d="100"/>
          <a:sy n="67" d="100"/>
        </p:scale>
        <p:origin x="516" y="2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739458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D0A2C">
              <a:alpha val="95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D0A2C">
              <a:alpha val="95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D0A2C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D0A2C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D0A2C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D0A2C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D0A2C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D0A2C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D0A2C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abs/2507.18649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645444"/>
            <a:ext cx="130428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Livatar-1: Real-Time Audio-Driven Talking-Head Generation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3516630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endParaRPr lang="en-US" sz="1750" dirty="0"/>
          </a:p>
        </p:txBody>
      </p:sp>
      <p:sp>
        <p:nvSpPr>
          <p:cNvPr id="4" name="Text 2"/>
          <p:cNvSpPr/>
          <p:nvPr/>
        </p:nvSpPr>
        <p:spPr>
          <a:xfrm>
            <a:off x="793790" y="4219694"/>
            <a:ext cx="11897558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Analyzing the Quality–Latency Tradeoff in Real-Time Lip-Sync Systems</a:t>
            </a:r>
            <a:endParaRPr lang="en-US" sz="2650" dirty="0"/>
          </a:p>
        </p:txBody>
      </p:sp>
      <p:sp>
        <p:nvSpPr>
          <p:cNvPr id="5" name="Text 3"/>
          <p:cNvSpPr/>
          <p:nvPr/>
        </p:nvSpPr>
        <p:spPr>
          <a:xfrm>
            <a:off x="793790" y="4985147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793790" y="5603200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793790" y="6221254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Primary Paper:</a:t>
            </a:r>
            <a:r>
              <a:rPr lang="en-US" sz="17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 Livatar-1: Real-Time Audio-Driven Talking-Head Generation with Tailored Flow Matching, 2025 </a:t>
            </a:r>
            <a:endParaRPr lang="en-US" sz="175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31D1E19-71EE-7D99-F842-0D856808A526}"/>
              </a:ext>
            </a:extLst>
          </p:cNvPr>
          <p:cNvSpPr/>
          <p:nvPr/>
        </p:nvSpPr>
        <p:spPr>
          <a:xfrm>
            <a:off x="12744450" y="7736681"/>
            <a:ext cx="1821656" cy="428625"/>
          </a:xfrm>
          <a:prstGeom prst="rect">
            <a:avLst/>
          </a:prstGeom>
          <a:solidFill>
            <a:srgbClr val="0D0A2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3560" y="1507331"/>
            <a:ext cx="12127230" cy="5843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600"/>
              </a:lnSpc>
              <a:buNone/>
            </a:pPr>
            <a:r>
              <a:rPr lang="en-US" sz="365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Problem Definition: Why Real-Time Lip-Sync Is Hard</a:t>
            </a:r>
            <a:endParaRPr lang="en-US" sz="3650" dirty="0"/>
          </a:p>
        </p:txBody>
      </p:sp>
      <p:sp>
        <p:nvSpPr>
          <p:cNvPr id="3" name="Text 1"/>
          <p:cNvSpPr/>
          <p:nvPr/>
        </p:nvSpPr>
        <p:spPr>
          <a:xfrm>
            <a:off x="863560" y="2399943"/>
            <a:ext cx="12903160" cy="2728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Real-time audio-driven talking-head generation faces a fundamental constraint: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863560" y="2846189"/>
            <a:ext cx="4198263" cy="1319332"/>
          </a:xfrm>
          <a:prstGeom prst="roundRect">
            <a:avLst>
              <a:gd name="adj" fmla="val 5953"/>
            </a:avLst>
          </a:prstGeom>
          <a:solidFill>
            <a:srgbClr val="31136C"/>
          </a:solidFill>
          <a:ln w="7620">
            <a:solidFill>
              <a:srgbClr val="4A2C8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58108" y="3040737"/>
            <a:ext cx="3089196" cy="2920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0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1. Synchronous Generation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58108" y="3425190"/>
            <a:ext cx="3809167" cy="5457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Facial motion must be generated </a:t>
            </a:r>
            <a:r>
              <a:rPr lang="en-US" sz="1450" b="1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synchronously with audio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215890" y="2846189"/>
            <a:ext cx="4198382" cy="1319332"/>
          </a:xfrm>
          <a:prstGeom prst="roundRect">
            <a:avLst>
              <a:gd name="adj" fmla="val 5953"/>
            </a:avLst>
          </a:prstGeom>
          <a:solidFill>
            <a:srgbClr val="31136C"/>
          </a:solidFill>
          <a:ln w="7620">
            <a:solidFill>
              <a:srgbClr val="4A2C8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410438" y="3040737"/>
            <a:ext cx="2519720" cy="2920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0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2. Continuous Output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410438" y="3425190"/>
            <a:ext cx="3809286" cy="2728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Video frames must be produced </a:t>
            </a:r>
            <a:r>
              <a:rPr lang="en-US" sz="1450" b="1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continuously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9568339" y="2846189"/>
            <a:ext cx="4198382" cy="1319332"/>
          </a:xfrm>
          <a:prstGeom prst="roundRect">
            <a:avLst>
              <a:gd name="adj" fmla="val 5953"/>
            </a:avLst>
          </a:prstGeom>
          <a:solidFill>
            <a:srgbClr val="31136C"/>
          </a:solidFill>
          <a:ln w="7620">
            <a:solidFill>
              <a:srgbClr val="4A2C8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9762887" y="3040737"/>
            <a:ext cx="2805589" cy="2920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0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3. Temporal Consistency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9762887" y="3425190"/>
            <a:ext cx="3809286" cy="5457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Temporal consistency must be preserved over time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863560" y="4432299"/>
            <a:ext cx="12903160" cy="30956"/>
          </a:xfrm>
          <a:prstGeom prst="rect">
            <a:avLst/>
          </a:prstGeom>
          <a:solidFill>
            <a:srgbClr val="DCD7E5">
              <a:alpha val="5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863560" y="4694396"/>
            <a:ext cx="3528536" cy="3506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Why the problem occurs: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863560" y="5414963"/>
            <a:ext cx="6223397" cy="10917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100"/>
              </a:lnSpc>
              <a:buSzPct val="100000"/>
              <a:buChar char="•"/>
            </a:pPr>
            <a:r>
              <a:rPr lang="en-US" sz="14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Real-time interaction requires </a:t>
            </a:r>
            <a:r>
              <a:rPr lang="en-US" sz="1450" b="1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&lt; 200 ms end-to-end latency</a:t>
            </a:r>
            <a:endParaRPr lang="en-US" sz="1450" dirty="0"/>
          </a:p>
          <a:p>
            <a:pPr marL="342900" indent="-342900" algn="l">
              <a:lnSpc>
                <a:spcPts val="2100"/>
              </a:lnSpc>
              <a:buSzPct val="100000"/>
              <a:buChar char="•"/>
            </a:pPr>
            <a:r>
              <a:rPr lang="en-US" sz="14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Natural motion requires </a:t>
            </a:r>
            <a:r>
              <a:rPr lang="en-US" sz="1450" b="1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24–30 FPS</a:t>
            </a:r>
            <a:endParaRPr lang="en-US" sz="1450" dirty="0"/>
          </a:p>
          <a:p>
            <a:pPr marL="342900" indent="-342900" algn="l">
              <a:lnSpc>
                <a:spcPts val="2100"/>
              </a:lnSpc>
              <a:buSzPct val="100000"/>
              <a:buChar char="•"/>
            </a:pPr>
            <a:r>
              <a:rPr lang="en-US" sz="14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At 30 FPS, each frame has only </a:t>
            </a:r>
            <a:r>
              <a:rPr lang="en-US" sz="1450" b="1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~33 ms compute budget</a:t>
            </a:r>
            <a:endParaRPr lang="en-US" sz="1450" dirty="0"/>
          </a:p>
          <a:p>
            <a:pPr marL="342900" indent="-342900" algn="l">
              <a:lnSpc>
                <a:spcPts val="2100"/>
              </a:lnSpc>
              <a:buSzPct val="100000"/>
              <a:buChar char="•"/>
            </a:pPr>
            <a:r>
              <a:rPr lang="en-US" sz="14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Human observers detect lip-sync errors above </a:t>
            </a:r>
            <a:r>
              <a:rPr lang="en-US" sz="1450" b="1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~80–100 ms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7416165" y="5276255"/>
            <a:ext cx="6492716" cy="1446014"/>
          </a:xfrm>
          <a:prstGeom prst="roundRect">
            <a:avLst>
              <a:gd name="adj" fmla="val 9311"/>
            </a:avLst>
          </a:prstGeom>
          <a:solidFill>
            <a:srgbClr val="481C9E">
              <a:alpha val="9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7603093" y="5430322"/>
            <a:ext cx="2337435" cy="2920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Core tension: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7603093" y="5876449"/>
            <a:ext cx="6118860" cy="5457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Lower latency → fewer computation steps → degraded lip-sync accuracy and temporal stability</a:t>
            </a:r>
            <a:endParaRPr lang="en-US" sz="1450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6D92FAB-DFF5-CA91-6D9D-D711AAD42424}"/>
              </a:ext>
            </a:extLst>
          </p:cNvPr>
          <p:cNvSpPr/>
          <p:nvPr/>
        </p:nvSpPr>
        <p:spPr>
          <a:xfrm>
            <a:off x="12744450" y="7736681"/>
            <a:ext cx="1821656" cy="428625"/>
          </a:xfrm>
          <a:prstGeom prst="rect">
            <a:avLst/>
          </a:prstGeom>
          <a:solidFill>
            <a:srgbClr val="0D0A2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1403" y="695206"/>
            <a:ext cx="8611910" cy="6709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250"/>
              </a:lnSpc>
              <a:buNone/>
            </a:pPr>
            <a:r>
              <a:rPr lang="en-US" sz="420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Why Existing Solutions Struggle</a:t>
            </a:r>
            <a:endParaRPr lang="en-US" sz="4200" dirty="0"/>
          </a:p>
        </p:txBody>
      </p:sp>
      <p:sp>
        <p:nvSpPr>
          <p:cNvPr id="3" name="Text 1"/>
          <p:cNvSpPr/>
          <p:nvPr/>
        </p:nvSpPr>
        <p:spPr>
          <a:xfrm>
            <a:off x="751403" y="1874044"/>
            <a:ext cx="3220403" cy="402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50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Offline systems: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751403" y="2479715"/>
            <a:ext cx="6301978" cy="13373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600"/>
              </a:lnSpc>
              <a:buSzPct val="100000"/>
              <a:buChar char="•"/>
            </a:pPr>
            <a:r>
              <a:rPr lang="en-US" sz="16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Use iterative refinement and temporal smoothing</a:t>
            </a:r>
            <a:endParaRPr lang="en-US" sz="1650" dirty="0"/>
          </a:p>
          <a:p>
            <a:pPr marL="342900" indent="-342900" algn="l">
              <a:lnSpc>
                <a:spcPts val="2600"/>
              </a:lnSpc>
              <a:buSzPct val="100000"/>
              <a:buChar char="•"/>
            </a:pPr>
            <a:r>
              <a:rPr lang="en-US" sz="16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Achieve high lip-sync accuracy</a:t>
            </a:r>
            <a:endParaRPr lang="en-US" sz="1650" dirty="0"/>
          </a:p>
          <a:p>
            <a:pPr marL="342900" indent="-342900" algn="l">
              <a:lnSpc>
                <a:spcPts val="2600"/>
              </a:lnSpc>
              <a:buSzPct val="100000"/>
              <a:buChar char="•"/>
            </a:pPr>
            <a:r>
              <a:rPr lang="en-US" sz="16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Latency measured in </a:t>
            </a:r>
            <a:r>
              <a:rPr lang="en-US" sz="1650" b="1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seconds to minutes</a:t>
            </a:r>
            <a:endParaRPr lang="en-US" sz="1650" dirty="0"/>
          </a:p>
          <a:p>
            <a:pPr marL="342900" indent="-342900" algn="l">
              <a:lnSpc>
                <a:spcPts val="2600"/>
              </a:lnSpc>
              <a:buSzPct val="100000"/>
              <a:buChar char="•"/>
            </a:pPr>
            <a:r>
              <a:rPr lang="en-US" sz="16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Not applicable to real-time interaction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751403" y="3878427"/>
            <a:ext cx="3914537" cy="402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50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Naïve real-time systems: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751403" y="4484098"/>
            <a:ext cx="6301978" cy="10030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600"/>
              </a:lnSpc>
              <a:buSzPct val="100000"/>
              <a:buChar char="•"/>
            </a:pPr>
            <a:r>
              <a:rPr lang="en-US" sz="16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Simplify architectures</a:t>
            </a:r>
            <a:endParaRPr lang="en-US" sz="1650" dirty="0"/>
          </a:p>
          <a:p>
            <a:pPr marL="342900" indent="-342900" algn="l">
              <a:lnSpc>
                <a:spcPts val="2600"/>
              </a:lnSpc>
              <a:buSzPct val="100000"/>
              <a:buChar char="•"/>
            </a:pPr>
            <a:r>
              <a:rPr lang="en-US" sz="16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Reduce resolution</a:t>
            </a:r>
            <a:endParaRPr lang="en-US" sz="1650" dirty="0"/>
          </a:p>
          <a:p>
            <a:pPr marL="342900" indent="-342900" algn="l">
              <a:lnSpc>
                <a:spcPts val="2600"/>
              </a:lnSpc>
              <a:buSzPct val="100000"/>
              <a:buChar char="•"/>
            </a:pPr>
            <a:r>
              <a:rPr lang="en-US" sz="16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Remove temporal modeling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7584638" y="1874044"/>
            <a:ext cx="3880485" cy="402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50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Common failure modes:</a:t>
            </a:r>
            <a:endParaRPr lang="en-US" sz="2500" dirty="0"/>
          </a:p>
        </p:txBody>
      </p:sp>
      <p:sp>
        <p:nvSpPr>
          <p:cNvPr id="8" name="Text 6"/>
          <p:cNvSpPr/>
          <p:nvPr/>
        </p:nvSpPr>
        <p:spPr>
          <a:xfrm>
            <a:off x="7584638" y="2479715"/>
            <a:ext cx="6301978" cy="10030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600"/>
              </a:lnSpc>
              <a:buSzPct val="100000"/>
              <a:buChar char="•"/>
            </a:pPr>
            <a:r>
              <a:rPr lang="en-US" sz="16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Lip-sync mismatch</a:t>
            </a:r>
            <a:endParaRPr lang="en-US" sz="1650" dirty="0"/>
          </a:p>
          <a:p>
            <a:pPr marL="342900" indent="-342900" algn="l">
              <a:lnSpc>
                <a:spcPts val="2600"/>
              </a:lnSpc>
              <a:buSzPct val="100000"/>
              <a:buChar char="•"/>
            </a:pPr>
            <a:r>
              <a:rPr lang="en-US" sz="16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Temporal jitter</a:t>
            </a:r>
            <a:endParaRPr lang="en-US" sz="1650" dirty="0"/>
          </a:p>
          <a:p>
            <a:pPr marL="342900" indent="-342900" algn="l">
              <a:lnSpc>
                <a:spcPts val="2600"/>
              </a:lnSpc>
              <a:buSzPct val="100000"/>
              <a:buChar char="•"/>
            </a:pPr>
            <a:r>
              <a:rPr lang="en-US" sz="16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Pose drift over time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7584638" y="3473138"/>
            <a:ext cx="3220403" cy="402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50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Quantitative reality:</a:t>
            </a:r>
            <a:endParaRPr lang="en-US" sz="2500" dirty="0"/>
          </a:p>
        </p:txBody>
      </p:sp>
      <p:sp>
        <p:nvSpPr>
          <p:cNvPr id="10" name="Text 8"/>
          <p:cNvSpPr/>
          <p:nvPr/>
        </p:nvSpPr>
        <p:spPr>
          <a:xfrm>
            <a:off x="7584638" y="4078809"/>
            <a:ext cx="6301978" cy="13373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600"/>
              </a:lnSpc>
              <a:buSzPct val="100000"/>
              <a:buChar char="•"/>
            </a:pPr>
            <a:r>
              <a:rPr lang="en-US" sz="16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Offline latency: </a:t>
            </a:r>
            <a:r>
              <a:rPr lang="en-US" sz="1650" b="1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seconds</a:t>
            </a:r>
            <a:endParaRPr lang="en-US" sz="1650" dirty="0"/>
          </a:p>
          <a:p>
            <a:pPr marL="342900" indent="-342900" algn="l">
              <a:lnSpc>
                <a:spcPts val="2600"/>
              </a:lnSpc>
              <a:buSzPct val="100000"/>
              <a:buChar char="•"/>
            </a:pPr>
            <a:r>
              <a:rPr lang="en-US" sz="16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Real-time target: </a:t>
            </a:r>
            <a:r>
              <a:rPr lang="en-US" sz="1650" b="1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&lt; 200 ms</a:t>
            </a:r>
            <a:endParaRPr lang="en-US" sz="1650" dirty="0"/>
          </a:p>
          <a:p>
            <a:pPr marL="342900" indent="-342900" algn="l">
              <a:lnSpc>
                <a:spcPts val="2600"/>
              </a:lnSpc>
              <a:buSzPct val="100000"/>
              <a:buChar char="•"/>
            </a:pPr>
            <a:r>
              <a:rPr lang="en-US" sz="16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Many real-time systems exceed </a:t>
            </a:r>
            <a:r>
              <a:rPr lang="en-US" sz="1650" b="1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200–300 ms</a:t>
            </a:r>
            <a:r>
              <a:rPr lang="en-US" sz="16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 or sacrifice quality</a:t>
            </a:r>
            <a:endParaRPr lang="en-US" sz="1650" dirty="0"/>
          </a:p>
        </p:txBody>
      </p:sp>
      <p:sp>
        <p:nvSpPr>
          <p:cNvPr id="11" name="Shape 9"/>
          <p:cNvSpPr/>
          <p:nvPr/>
        </p:nvSpPr>
        <p:spPr>
          <a:xfrm>
            <a:off x="751403" y="5752415"/>
            <a:ext cx="13127593" cy="34409"/>
          </a:xfrm>
          <a:prstGeom prst="rect">
            <a:avLst/>
          </a:prstGeom>
          <a:solidFill>
            <a:srgbClr val="DCD7E5">
              <a:alpha val="5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751403" y="6015327"/>
            <a:ext cx="13127593" cy="881063"/>
          </a:xfrm>
          <a:prstGeom prst="roundRect">
            <a:avLst>
              <a:gd name="adj" fmla="val 10235"/>
            </a:avLst>
          </a:prstGeom>
          <a:solidFill>
            <a:srgbClr val="1E0C4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6073" y="6324294"/>
            <a:ext cx="268367" cy="21467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1449110" y="6272026"/>
            <a:ext cx="12215217" cy="3342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b="1" dirty="0">
                <a:solidFill>
                  <a:srgbClr val="FFFFFF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Key issue:</a:t>
            </a:r>
            <a:r>
              <a:rPr lang="en-US" sz="1650" dirty="0">
                <a:solidFill>
                  <a:srgbClr val="FFFFFF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 Most systems optimize speed first and accept quality loss implicitly.</a:t>
            </a:r>
            <a:endParaRPr lang="en-US" sz="1650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00246A3-0262-673A-CD5F-12C06D104BB4}"/>
              </a:ext>
            </a:extLst>
          </p:cNvPr>
          <p:cNvSpPr/>
          <p:nvPr/>
        </p:nvSpPr>
        <p:spPr>
          <a:xfrm>
            <a:off x="12744450" y="7736681"/>
            <a:ext cx="1821656" cy="428625"/>
          </a:xfrm>
          <a:prstGeom prst="rect">
            <a:avLst/>
          </a:prstGeom>
          <a:solidFill>
            <a:srgbClr val="0D0A2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462326" y="953095"/>
            <a:ext cx="9196626" cy="5300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150"/>
              </a:lnSpc>
              <a:buNone/>
            </a:pPr>
            <a:r>
              <a:rPr lang="en-US" sz="330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Proposed Solution: How the Pipeline Works</a:t>
            </a:r>
            <a:endParaRPr lang="en-US" sz="3300" dirty="0"/>
          </a:p>
        </p:txBody>
      </p:sp>
      <p:sp>
        <p:nvSpPr>
          <p:cNvPr id="3" name="Text 1"/>
          <p:cNvSpPr/>
          <p:nvPr/>
        </p:nvSpPr>
        <p:spPr>
          <a:xfrm>
            <a:off x="1462326" y="1736884"/>
            <a:ext cx="11705749" cy="4743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3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Livatar-1 introduces a tailored flow-matching-based pipeline designed specifically for real-time audio-driven talking-head generation, balancing lip-sync accuracy, temporal stability, and low latency.</a:t>
            </a:r>
            <a:endParaRPr lang="en-US" sz="13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2326" y="2608302"/>
            <a:ext cx="5789414" cy="11430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631871" y="3243977"/>
            <a:ext cx="3976687" cy="2650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Streaming audio encoding (~8–12 ms)</a:t>
            </a:r>
            <a:endParaRPr lang="en-US" sz="1650" dirty="0"/>
          </a:p>
        </p:txBody>
      </p:sp>
      <p:sp>
        <p:nvSpPr>
          <p:cNvPr id="6" name="Text 3"/>
          <p:cNvSpPr/>
          <p:nvPr/>
        </p:nvSpPr>
        <p:spPr>
          <a:xfrm>
            <a:off x="1631871" y="3585091"/>
            <a:ext cx="5450324" cy="2371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3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extract phoneme-level timing cues for continuous conditioning</a:t>
            </a:r>
            <a:endParaRPr lang="en-US" sz="13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78541" y="2353866"/>
            <a:ext cx="5789533" cy="11430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548086" y="2989540"/>
            <a:ext cx="5450443" cy="5300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Audio-conditioned flow-matching generation (~25–40 ms)</a:t>
            </a:r>
            <a:endParaRPr lang="en-US" sz="1650" dirty="0"/>
          </a:p>
        </p:txBody>
      </p:sp>
      <p:sp>
        <p:nvSpPr>
          <p:cNvPr id="9" name="Text 5"/>
          <p:cNvSpPr/>
          <p:nvPr/>
        </p:nvSpPr>
        <p:spPr>
          <a:xfrm>
            <a:off x="7548086" y="3595688"/>
            <a:ext cx="5450443" cy="2371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3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single-pass generation, avoids iterative denoising</a:t>
            </a:r>
            <a:endParaRPr lang="en-US" sz="13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2326" y="4383643"/>
            <a:ext cx="5789414" cy="114300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631871" y="5019318"/>
            <a:ext cx="3885843" cy="2650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Temporal modeling and stabilization</a:t>
            </a:r>
            <a:endParaRPr lang="en-US" sz="1650" dirty="0"/>
          </a:p>
        </p:txBody>
      </p:sp>
      <p:sp>
        <p:nvSpPr>
          <p:cNvPr id="12" name="Text 7"/>
          <p:cNvSpPr/>
          <p:nvPr/>
        </p:nvSpPr>
        <p:spPr>
          <a:xfrm>
            <a:off x="1631871" y="5360432"/>
            <a:ext cx="5450324" cy="2371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3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prevent jitter and long-term pose drift</a:t>
            </a:r>
            <a:endParaRPr lang="en-US" sz="130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78541" y="4129207"/>
            <a:ext cx="5789533" cy="11430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7548086" y="4764881"/>
            <a:ext cx="5450443" cy="5300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Pipeline coordination and synchronization (~40–60 ms)</a:t>
            </a:r>
            <a:endParaRPr lang="en-US" sz="1650" dirty="0"/>
          </a:p>
        </p:txBody>
      </p:sp>
      <p:sp>
        <p:nvSpPr>
          <p:cNvPr id="15" name="Text 9"/>
          <p:cNvSpPr/>
          <p:nvPr/>
        </p:nvSpPr>
        <p:spPr>
          <a:xfrm>
            <a:off x="7548086" y="5371028"/>
            <a:ext cx="5450443" cy="2371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3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buffered streaming ensures stable FPS</a:t>
            </a:r>
            <a:endParaRPr lang="en-US" sz="1300" dirty="0"/>
          </a:p>
        </p:txBody>
      </p:sp>
      <p:sp>
        <p:nvSpPr>
          <p:cNvPr id="16" name="Text 10"/>
          <p:cNvSpPr/>
          <p:nvPr/>
        </p:nvSpPr>
        <p:spPr>
          <a:xfrm>
            <a:off x="1462326" y="5968008"/>
            <a:ext cx="3762970" cy="3180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Why this structure is effective</a:t>
            </a:r>
            <a:endParaRPr lang="en-US" sz="2000" dirty="0"/>
          </a:p>
        </p:txBody>
      </p:sp>
      <p:sp>
        <p:nvSpPr>
          <p:cNvPr id="17" name="Text 11"/>
          <p:cNvSpPr/>
          <p:nvPr/>
        </p:nvSpPr>
        <p:spPr>
          <a:xfrm>
            <a:off x="1462326" y="6476286"/>
            <a:ext cx="11705749" cy="7116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850"/>
              </a:lnSpc>
              <a:buSzPct val="100000"/>
              <a:buChar char="•"/>
            </a:pPr>
            <a:r>
              <a:rPr lang="en-US" sz="13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Designed for true streaming, not sequence-level generation</a:t>
            </a:r>
            <a:endParaRPr lang="en-US" sz="1300" dirty="0"/>
          </a:p>
          <a:p>
            <a:pPr marL="342900" indent="-342900" algn="l">
              <a:lnSpc>
                <a:spcPts val="1850"/>
              </a:lnSpc>
              <a:buSzPct val="100000"/>
              <a:buChar char="•"/>
            </a:pPr>
            <a:r>
              <a:rPr lang="en-US" sz="13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Single-pass flow matching reduces latency compared to diffusion-based methods</a:t>
            </a:r>
            <a:endParaRPr lang="en-US" sz="1300" dirty="0"/>
          </a:p>
          <a:p>
            <a:pPr marL="342900" indent="-342900" algn="l">
              <a:lnSpc>
                <a:spcPts val="1850"/>
              </a:lnSpc>
              <a:buSzPct val="100000"/>
              <a:buChar char="•"/>
            </a:pPr>
            <a:r>
              <a:rPr lang="en-US" sz="13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Temporal consistency is integrated, not post-processed</a:t>
            </a:r>
            <a:endParaRPr lang="en-US" sz="1300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42FBAB1-E287-C66C-A221-D3DDA10BE9D0}"/>
              </a:ext>
            </a:extLst>
          </p:cNvPr>
          <p:cNvSpPr/>
          <p:nvPr/>
        </p:nvSpPr>
        <p:spPr>
          <a:xfrm>
            <a:off x="12744450" y="7736681"/>
            <a:ext cx="1821656" cy="428625"/>
          </a:xfrm>
          <a:prstGeom prst="rect">
            <a:avLst/>
          </a:prstGeom>
          <a:solidFill>
            <a:srgbClr val="0D0A2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8426" y="709732"/>
            <a:ext cx="9129117" cy="6593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150"/>
              </a:lnSpc>
              <a:buNone/>
            </a:pPr>
            <a:r>
              <a:rPr lang="en-US" sz="415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                        Why I Chose Livatar-1:</a:t>
            </a:r>
            <a:endParaRPr lang="en-US" sz="4150" dirty="0"/>
          </a:p>
        </p:txBody>
      </p:sp>
      <p:sp>
        <p:nvSpPr>
          <p:cNvPr id="3" name="Text 1"/>
          <p:cNvSpPr/>
          <p:nvPr/>
        </p:nvSpPr>
        <p:spPr>
          <a:xfrm>
            <a:off x="738426" y="1761649"/>
            <a:ext cx="13153549" cy="3257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endParaRPr lang="en-US" sz="1650" dirty="0"/>
          </a:p>
        </p:txBody>
      </p:sp>
      <p:sp>
        <p:nvSpPr>
          <p:cNvPr id="4" name="Shape 2"/>
          <p:cNvSpPr/>
          <p:nvPr/>
        </p:nvSpPr>
        <p:spPr>
          <a:xfrm>
            <a:off x="738426" y="2308146"/>
            <a:ext cx="6478667" cy="1119187"/>
          </a:xfrm>
          <a:prstGeom prst="roundRect">
            <a:avLst>
              <a:gd name="adj" fmla="val 7918"/>
            </a:avLst>
          </a:prstGeom>
          <a:solidFill>
            <a:srgbClr val="0D0A2C">
              <a:alpha val="95000"/>
            </a:srgbClr>
          </a:solidFill>
          <a:ln w="22860">
            <a:solidFill>
              <a:srgbClr val="4A2C8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972264" y="2541984"/>
            <a:ext cx="6010989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Explicitly designed for </a:t>
            </a:r>
            <a:r>
              <a:rPr lang="en-US" sz="1650" b="1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real-time deployment</a:t>
            </a:r>
            <a:r>
              <a:rPr lang="en-US" sz="16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, not offline generation</a:t>
            </a:r>
            <a:endParaRPr lang="en-US" sz="1650" dirty="0"/>
          </a:p>
        </p:txBody>
      </p:sp>
      <p:sp>
        <p:nvSpPr>
          <p:cNvPr id="6" name="Shape 4"/>
          <p:cNvSpPr/>
          <p:nvPr/>
        </p:nvSpPr>
        <p:spPr>
          <a:xfrm>
            <a:off x="7413308" y="2308146"/>
            <a:ext cx="6478667" cy="1119187"/>
          </a:xfrm>
          <a:prstGeom prst="roundRect">
            <a:avLst>
              <a:gd name="adj" fmla="val 7918"/>
            </a:avLst>
          </a:prstGeom>
          <a:solidFill>
            <a:srgbClr val="0D0A2C">
              <a:alpha val="95000"/>
            </a:srgbClr>
          </a:solidFill>
          <a:ln w="22860">
            <a:solidFill>
              <a:srgbClr val="4A2C8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647146" y="2541984"/>
            <a:ext cx="6010989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Defines a concrete real-time operating regime, enabling tradeoff analysis</a:t>
            </a:r>
            <a:endParaRPr lang="en-US" sz="1650" dirty="0"/>
          </a:p>
        </p:txBody>
      </p:sp>
      <p:sp>
        <p:nvSpPr>
          <p:cNvPr id="8" name="Shape 6"/>
          <p:cNvSpPr/>
          <p:nvPr/>
        </p:nvSpPr>
        <p:spPr>
          <a:xfrm>
            <a:off x="738426" y="3623548"/>
            <a:ext cx="6478667" cy="1119187"/>
          </a:xfrm>
          <a:prstGeom prst="roundRect">
            <a:avLst>
              <a:gd name="adj" fmla="val 7918"/>
            </a:avLst>
          </a:prstGeom>
          <a:solidFill>
            <a:srgbClr val="0D0A2C">
              <a:alpha val="95000"/>
            </a:srgbClr>
          </a:solidFill>
          <a:ln w="22860">
            <a:solidFill>
              <a:srgbClr val="4A2C8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972264" y="3857387"/>
            <a:ext cx="6010989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Prioritizes </a:t>
            </a:r>
            <a:r>
              <a:rPr lang="en-US" sz="1650" b="1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lip-sync accuracy and temporal stability</a:t>
            </a:r>
            <a:r>
              <a:rPr lang="en-US" sz="16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, which are our primary quality dimensions</a:t>
            </a:r>
            <a:endParaRPr lang="en-US" sz="1650" dirty="0"/>
          </a:p>
        </p:txBody>
      </p:sp>
      <p:sp>
        <p:nvSpPr>
          <p:cNvPr id="10" name="Shape 8"/>
          <p:cNvSpPr/>
          <p:nvPr/>
        </p:nvSpPr>
        <p:spPr>
          <a:xfrm>
            <a:off x="7413308" y="3623548"/>
            <a:ext cx="6478667" cy="1119187"/>
          </a:xfrm>
          <a:prstGeom prst="roundRect">
            <a:avLst>
              <a:gd name="adj" fmla="val 7918"/>
            </a:avLst>
          </a:prstGeom>
          <a:solidFill>
            <a:srgbClr val="0D0A2C">
              <a:alpha val="95000"/>
            </a:srgbClr>
          </a:solidFill>
          <a:ln w="22860">
            <a:solidFill>
              <a:srgbClr val="4A2C8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7647146" y="3857387"/>
            <a:ext cx="6010989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Frames generation as a systems problem, balancing quality and responsiveness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738426" y="4963478"/>
            <a:ext cx="13153549" cy="3257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738426" y="5583555"/>
            <a:ext cx="4220051" cy="5274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150"/>
              </a:lnSpc>
              <a:buNone/>
            </a:pPr>
            <a:r>
              <a:rPr lang="en-US" sz="330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Role in our study</a:t>
            </a:r>
            <a:endParaRPr lang="en-US" sz="3300" dirty="0"/>
          </a:p>
        </p:txBody>
      </p:sp>
      <p:sp>
        <p:nvSpPr>
          <p:cNvPr id="14" name="Text 12"/>
          <p:cNvSpPr/>
          <p:nvPr/>
        </p:nvSpPr>
        <p:spPr>
          <a:xfrm>
            <a:off x="738426" y="6405324"/>
            <a:ext cx="13153549" cy="9774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550"/>
              </a:lnSpc>
              <a:buSzPct val="100000"/>
              <a:buChar char="•"/>
            </a:pPr>
            <a:r>
              <a:rPr lang="en-US" sz="16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Serves as a realistic reference system within the real-time regime</a:t>
            </a:r>
            <a:endParaRPr lang="en-US" sz="1650" dirty="0"/>
          </a:p>
          <a:p>
            <a:pPr marL="342900" indent="-342900" algn="l">
              <a:lnSpc>
                <a:spcPts val="2550"/>
              </a:lnSpc>
              <a:buSzPct val="100000"/>
              <a:buChar char="•"/>
            </a:pPr>
            <a:r>
              <a:rPr lang="en-US" sz="16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Provides a baseline operating point for later quality–latency analysis</a:t>
            </a:r>
            <a:endParaRPr lang="en-US" sz="1650" dirty="0"/>
          </a:p>
          <a:p>
            <a:pPr marL="342900" indent="-342900" algn="l">
              <a:lnSpc>
                <a:spcPts val="2550"/>
              </a:lnSpc>
              <a:buSzPct val="100000"/>
              <a:buChar char="•"/>
            </a:pPr>
            <a:r>
              <a:rPr lang="en-US" sz="16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Motivates studying how quality degrades as latency constraints tighten, rather than only feasibility</a:t>
            </a:r>
            <a:endParaRPr lang="en-US" sz="1650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461346B-CBE7-6B6B-BC96-34078170BC9E}"/>
              </a:ext>
            </a:extLst>
          </p:cNvPr>
          <p:cNvSpPr/>
          <p:nvPr/>
        </p:nvSpPr>
        <p:spPr>
          <a:xfrm>
            <a:off x="12744450" y="7736681"/>
            <a:ext cx="1821656" cy="428625"/>
          </a:xfrm>
          <a:prstGeom prst="rect">
            <a:avLst/>
          </a:prstGeom>
          <a:solidFill>
            <a:srgbClr val="0D0A2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76037" y="905708"/>
            <a:ext cx="8009334" cy="6013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700"/>
              </a:lnSpc>
              <a:buNone/>
            </a:pPr>
            <a:r>
              <a:rPr lang="en-US" sz="375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Results That Matter for Real-Time</a:t>
            </a:r>
            <a:endParaRPr lang="en-US" sz="3750" dirty="0"/>
          </a:p>
        </p:txBody>
      </p:sp>
      <p:sp>
        <p:nvSpPr>
          <p:cNvPr id="3" name="Text 1"/>
          <p:cNvSpPr/>
          <p:nvPr/>
        </p:nvSpPr>
        <p:spPr>
          <a:xfrm>
            <a:off x="676037" y="1572339"/>
            <a:ext cx="2958584" cy="3607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5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Key reported results:</a:t>
            </a:r>
            <a:endParaRPr lang="en-US" sz="2250" dirty="0"/>
          </a:p>
        </p:txBody>
      </p:sp>
      <p:sp>
        <p:nvSpPr>
          <p:cNvPr id="4" name="Shape 2"/>
          <p:cNvSpPr/>
          <p:nvPr/>
        </p:nvSpPr>
        <p:spPr>
          <a:xfrm>
            <a:off x="676037" y="2177891"/>
            <a:ext cx="3197066" cy="1154073"/>
          </a:xfrm>
          <a:prstGeom prst="roundRect">
            <a:avLst>
              <a:gd name="adj" fmla="val 7003"/>
            </a:avLst>
          </a:prstGeom>
          <a:solidFill>
            <a:srgbClr val="31136C"/>
          </a:solidFill>
          <a:ln w="7620">
            <a:solidFill>
              <a:srgbClr val="4A2C8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76062" y="2377916"/>
            <a:ext cx="2405420" cy="3006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End-to-end latency</a:t>
            </a:r>
            <a:endParaRPr lang="en-US" sz="1850" dirty="0"/>
          </a:p>
        </p:txBody>
      </p:sp>
      <p:sp>
        <p:nvSpPr>
          <p:cNvPr id="6" name="Text 4"/>
          <p:cNvSpPr/>
          <p:nvPr/>
        </p:nvSpPr>
        <p:spPr>
          <a:xfrm>
            <a:off x="876062" y="2776418"/>
            <a:ext cx="2797016" cy="3555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850" b="1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~170 ms</a:t>
            </a:r>
            <a:endParaRPr lang="en-US" sz="1850" dirty="0"/>
          </a:p>
        </p:txBody>
      </p:sp>
      <p:sp>
        <p:nvSpPr>
          <p:cNvPr id="7" name="Shape 5"/>
          <p:cNvSpPr/>
          <p:nvPr/>
        </p:nvSpPr>
        <p:spPr>
          <a:xfrm>
            <a:off x="4036338" y="2177891"/>
            <a:ext cx="3197185" cy="1154073"/>
          </a:xfrm>
          <a:prstGeom prst="roundRect">
            <a:avLst>
              <a:gd name="adj" fmla="val 7003"/>
            </a:avLst>
          </a:prstGeom>
          <a:solidFill>
            <a:srgbClr val="31136C"/>
          </a:solidFill>
          <a:ln w="7620">
            <a:solidFill>
              <a:srgbClr val="4A2C8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236363" y="2377916"/>
            <a:ext cx="2405420" cy="3006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Throughput</a:t>
            </a:r>
            <a:endParaRPr lang="en-US" sz="1850" dirty="0"/>
          </a:p>
        </p:txBody>
      </p:sp>
      <p:sp>
        <p:nvSpPr>
          <p:cNvPr id="9" name="Text 7"/>
          <p:cNvSpPr/>
          <p:nvPr/>
        </p:nvSpPr>
        <p:spPr>
          <a:xfrm>
            <a:off x="4236363" y="2776418"/>
            <a:ext cx="2797135" cy="3555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850" b="1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~140 FPS</a:t>
            </a:r>
            <a:endParaRPr lang="en-US" sz="1850" dirty="0"/>
          </a:p>
        </p:txBody>
      </p:sp>
      <p:sp>
        <p:nvSpPr>
          <p:cNvPr id="10" name="Shape 8"/>
          <p:cNvSpPr/>
          <p:nvPr/>
        </p:nvSpPr>
        <p:spPr>
          <a:xfrm>
            <a:off x="7396758" y="2177891"/>
            <a:ext cx="3197066" cy="1154073"/>
          </a:xfrm>
          <a:prstGeom prst="roundRect">
            <a:avLst>
              <a:gd name="adj" fmla="val 7003"/>
            </a:avLst>
          </a:prstGeom>
          <a:solidFill>
            <a:srgbClr val="31136C"/>
          </a:solidFill>
          <a:ln w="7620">
            <a:solidFill>
              <a:srgbClr val="4A2C8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7596783" y="2377916"/>
            <a:ext cx="2413516" cy="3006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Lip-sync confidence</a:t>
            </a:r>
            <a:endParaRPr lang="en-US" sz="1850" dirty="0"/>
          </a:p>
        </p:txBody>
      </p:sp>
      <p:sp>
        <p:nvSpPr>
          <p:cNvPr id="12" name="Text 10"/>
          <p:cNvSpPr/>
          <p:nvPr/>
        </p:nvSpPr>
        <p:spPr>
          <a:xfrm>
            <a:off x="7596783" y="2776418"/>
            <a:ext cx="2797016" cy="3555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850" b="1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~8.5 / 10</a:t>
            </a:r>
            <a:endParaRPr lang="en-US" sz="1850" dirty="0"/>
          </a:p>
        </p:txBody>
      </p:sp>
      <p:sp>
        <p:nvSpPr>
          <p:cNvPr id="13" name="Shape 11"/>
          <p:cNvSpPr/>
          <p:nvPr/>
        </p:nvSpPr>
        <p:spPr>
          <a:xfrm>
            <a:off x="10757059" y="2177891"/>
            <a:ext cx="3197185" cy="1154073"/>
          </a:xfrm>
          <a:prstGeom prst="roundRect">
            <a:avLst>
              <a:gd name="adj" fmla="val 7003"/>
            </a:avLst>
          </a:prstGeom>
          <a:solidFill>
            <a:srgbClr val="31136C"/>
          </a:solidFill>
          <a:ln w="7620">
            <a:solidFill>
              <a:srgbClr val="4A2C8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10957084" y="2377916"/>
            <a:ext cx="2405420" cy="3006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Model size</a:t>
            </a:r>
            <a:endParaRPr lang="en-US" sz="1850" dirty="0"/>
          </a:p>
        </p:txBody>
      </p:sp>
      <p:sp>
        <p:nvSpPr>
          <p:cNvPr id="15" name="Text 13"/>
          <p:cNvSpPr/>
          <p:nvPr/>
        </p:nvSpPr>
        <p:spPr>
          <a:xfrm>
            <a:off x="10957084" y="2776418"/>
            <a:ext cx="2797135" cy="3555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850" b="1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~150 MB</a:t>
            </a:r>
            <a:endParaRPr lang="en-US" sz="1850" dirty="0"/>
          </a:p>
        </p:txBody>
      </p:sp>
      <p:sp>
        <p:nvSpPr>
          <p:cNvPr id="16" name="Shape 14"/>
          <p:cNvSpPr/>
          <p:nvPr/>
        </p:nvSpPr>
        <p:spPr>
          <a:xfrm>
            <a:off x="676037" y="3495199"/>
            <a:ext cx="13278207" cy="1154073"/>
          </a:xfrm>
          <a:prstGeom prst="roundRect">
            <a:avLst>
              <a:gd name="adj" fmla="val 7003"/>
            </a:avLst>
          </a:prstGeom>
          <a:solidFill>
            <a:srgbClr val="31136C"/>
          </a:solidFill>
          <a:ln w="7620">
            <a:solidFill>
              <a:srgbClr val="4A2C8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876062" y="3695224"/>
            <a:ext cx="2435423" cy="3006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GPU memory usage</a:t>
            </a:r>
            <a:endParaRPr lang="en-US" sz="1850" dirty="0"/>
          </a:p>
        </p:txBody>
      </p:sp>
      <p:sp>
        <p:nvSpPr>
          <p:cNvPr id="18" name="Text 16"/>
          <p:cNvSpPr/>
          <p:nvPr/>
        </p:nvSpPr>
        <p:spPr>
          <a:xfrm>
            <a:off x="876062" y="4093726"/>
            <a:ext cx="12878157" cy="3555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850" b="1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~2.5–3 GB VRAM</a:t>
            </a:r>
            <a:endParaRPr lang="en-US" sz="1850" dirty="0"/>
          </a:p>
        </p:txBody>
      </p:sp>
      <p:sp>
        <p:nvSpPr>
          <p:cNvPr id="19" name="Shape 17"/>
          <p:cNvSpPr/>
          <p:nvPr/>
        </p:nvSpPr>
        <p:spPr>
          <a:xfrm>
            <a:off x="676037" y="4929077"/>
            <a:ext cx="13278207" cy="31671"/>
          </a:xfrm>
          <a:prstGeom prst="rect">
            <a:avLst/>
          </a:prstGeom>
          <a:solidFill>
            <a:srgbClr val="DCD7E5">
              <a:alpha val="5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76037" y="5205532"/>
            <a:ext cx="2886551" cy="3607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5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Interpretation:</a:t>
            </a:r>
            <a:endParaRPr lang="en-US" sz="2250" dirty="0"/>
          </a:p>
        </p:txBody>
      </p:sp>
      <p:sp>
        <p:nvSpPr>
          <p:cNvPr id="21" name="Text 19"/>
          <p:cNvSpPr/>
          <p:nvPr/>
        </p:nvSpPr>
        <p:spPr>
          <a:xfrm>
            <a:off x="676037" y="5958007"/>
            <a:ext cx="8466534" cy="11382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200"/>
              </a:lnSpc>
              <a:buSzPct val="100000"/>
              <a:buChar char="•"/>
            </a:pPr>
            <a:r>
              <a:rPr lang="en-US" sz="15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Latency meets real-time interaction constraints</a:t>
            </a:r>
            <a:endParaRPr lang="en-US" sz="1500" dirty="0"/>
          </a:p>
          <a:p>
            <a:pPr marL="342900" indent="-342900" algn="l">
              <a:lnSpc>
                <a:spcPts val="2200"/>
              </a:lnSpc>
              <a:buSzPct val="100000"/>
              <a:buChar char="•"/>
            </a:pPr>
            <a:r>
              <a:rPr lang="en-US" sz="15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High throughput provides streaming headroom</a:t>
            </a:r>
            <a:endParaRPr lang="en-US" sz="1500" dirty="0"/>
          </a:p>
          <a:p>
            <a:pPr marL="342900" indent="-342900" algn="l">
              <a:lnSpc>
                <a:spcPts val="2200"/>
              </a:lnSpc>
              <a:buSzPct val="100000"/>
              <a:buChar char="•"/>
            </a:pPr>
            <a:r>
              <a:rPr lang="en-US" sz="15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Lip-sync quality is strong but not perfect</a:t>
            </a:r>
            <a:endParaRPr lang="en-US" sz="1500" dirty="0"/>
          </a:p>
          <a:p>
            <a:pPr marL="342900" indent="-342900" algn="l">
              <a:lnSpc>
                <a:spcPts val="2200"/>
              </a:lnSpc>
              <a:buSzPct val="100000"/>
              <a:buChar char="•"/>
            </a:pPr>
            <a:r>
              <a:rPr lang="en-US" sz="15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Suitable for </a:t>
            </a:r>
            <a:r>
              <a:rPr lang="en-US" sz="1500" b="1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server-grade deployment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9481066" y="5811083"/>
            <a:ext cx="4619149" cy="1512808"/>
          </a:xfrm>
          <a:prstGeom prst="roundRect">
            <a:avLst>
              <a:gd name="adj" fmla="val 9159"/>
            </a:avLst>
          </a:prstGeom>
          <a:solidFill>
            <a:srgbClr val="481C9E">
              <a:alpha val="9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9673471" y="5958007"/>
            <a:ext cx="4234339" cy="5688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Important distinction:</a:t>
            </a:r>
            <a:r>
              <a:rPr lang="en-US" sz="15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 High FPS ≠ low latency — Livatar-1 explicitly targets both.</a:t>
            </a:r>
            <a:endParaRPr lang="en-US" sz="1500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FB7D429A-31DA-EBCB-B646-61A678FEA912}"/>
              </a:ext>
            </a:extLst>
          </p:cNvPr>
          <p:cNvSpPr/>
          <p:nvPr/>
        </p:nvSpPr>
        <p:spPr>
          <a:xfrm>
            <a:off x="12744450" y="7736681"/>
            <a:ext cx="1821656" cy="428625"/>
          </a:xfrm>
          <a:prstGeom prst="rect">
            <a:avLst/>
          </a:prstGeom>
          <a:solidFill>
            <a:srgbClr val="0D0A2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0334" y="652582"/>
            <a:ext cx="7310914" cy="6878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400"/>
              </a:lnSpc>
              <a:buNone/>
            </a:pPr>
            <a:r>
              <a:rPr lang="en-US" sz="430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Strengths of the Approach</a:t>
            </a:r>
            <a:endParaRPr lang="en-US" sz="4300" dirty="0"/>
          </a:p>
        </p:txBody>
      </p:sp>
      <p:sp>
        <p:nvSpPr>
          <p:cNvPr id="3" name="Text 1"/>
          <p:cNvSpPr/>
          <p:nvPr/>
        </p:nvSpPr>
        <p:spPr>
          <a:xfrm>
            <a:off x="770334" y="1425773"/>
            <a:ext cx="3647956" cy="4126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55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Conceptual strengths:</a:t>
            </a:r>
            <a:endParaRPr lang="en-US" sz="2550" dirty="0"/>
          </a:p>
        </p:txBody>
      </p:sp>
      <p:sp>
        <p:nvSpPr>
          <p:cNvPr id="4" name="Shape 2"/>
          <p:cNvSpPr/>
          <p:nvPr/>
        </p:nvSpPr>
        <p:spPr>
          <a:xfrm>
            <a:off x="770334" y="2158722"/>
            <a:ext cx="4220885" cy="1194911"/>
          </a:xfrm>
          <a:prstGeom prst="roundRect">
            <a:avLst>
              <a:gd name="adj" fmla="val 7736"/>
            </a:avLst>
          </a:prstGeom>
          <a:solidFill>
            <a:srgbClr val="0D0A2C">
              <a:alpha val="95000"/>
            </a:srgbClr>
          </a:solidFill>
          <a:ln w="30480">
            <a:solidFill>
              <a:srgbClr val="4A2C8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20842" y="2409230"/>
            <a:ext cx="3719870" cy="693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Treats real-time deepfake generation as a </a:t>
            </a:r>
            <a:r>
              <a:rPr lang="en-US" sz="1700" b="1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systems problem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5204698" y="2158722"/>
            <a:ext cx="4220885" cy="1194911"/>
          </a:xfrm>
          <a:prstGeom prst="roundRect">
            <a:avLst>
              <a:gd name="adj" fmla="val 7736"/>
            </a:avLst>
          </a:prstGeom>
          <a:solidFill>
            <a:srgbClr val="0D0A2C">
              <a:alpha val="95000"/>
            </a:srgbClr>
          </a:solidFill>
          <a:ln w="30480">
            <a:solidFill>
              <a:srgbClr val="4A2C8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455206" y="2409230"/>
            <a:ext cx="3719870" cy="693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Addresses temporal drift, not only frame-level quality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9639062" y="2158722"/>
            <a:ext cx="4220885" cy="1194911"/>
          </a:xfrm>
          <a:prstGeom prst="roundRect">
            <a:avLst>
              <a:gd name="adj" fmla="val 7736"/>
            </a:avLst>
          </a:prstGeom>
          <a:solidFill>
            <a:srgbClr val="0D0A2C">
              <a:alpha val="95000"/>
            </a:srgbClr>
          </a:solidFill>
          <a:ln w="30480">
            <a:solidFill>
              <a:srgbClr val="4A2C8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9889569" y="2409230"/>
            <a:ext cx="3719870" cy="693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Makes latency a first-class design constraint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770334" y="3703934"/>
            <a:ext cx="13089731" cy="35123"/>
          </a:xfrm>
          <a:prstGeom prst="rect">
            <a:avLst/>
          </a:prstGeom>
          <a:solidFill>
            <a:srgbClr val="DCD7E5">
              <a:alpha val="5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770334" y="4059317"/>
            <a:ext cx="3800832" cy="4126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55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Quantitative strengths:</a:t>
            </a:r>
            <a:endParaRPr lang="en-US" sz="2550" dirty="0"/>
          </a:p>
        </p:txBody>
      </p:sp>
      <p:sp>
        <p:nvSpPr>
          <p:cNvPr id="12" name="Shape 10"/>
          <p:cNvSpPr/>
          <p:nvPr/>
        </p:nvSpPr>
        <p:spPr>
          <a:xfrm>
            <a:off x="770334" y="4792266"/>
            <a:ext cx="495181" cy="495181"/>
          </a:xfrm>
          <a:prstGeom prst="roundRect">
            <a:avLst>
              <a:gd name="adj" fmla="val 18669"/>
            </a:avLst>
          </a:prstGeom>
          <a:solidFill>
            <a:srgbClr val="31136C"/>
          </a:solidFill>
          <a:ln w="7620">
            <a:solidFill>
              <a:srgbClr val="4A2C8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478994" y="4867870"/>
            <a:ext cx="3051572" cy="3438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Sub-200ms Operation</a:t>
            </a:r>
            <a:endParaRPr lang="en-US" sz="2150" dirty="0"/>
          </a:p>
        </p:txBody>
      </p:sp>
      <p:sp>
        <p:nvSpPr>
          <p:cNvPr id="14" name="Text 12"/>
          <p:cNvSpPr/>
          <p:nvPr/>
        </p:nvSpPr>
        <p:spPr>
          <a:xfrm>
            <a:off x="1478994" y="5339834"/>
            <a:ext cx="3476625" cy="693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Operates below the </a:t>
            </a:r>
            <a:r>
              <a:rPr lang="en-US" sz="1700" b="1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200 ms real-time threshold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5222558" y="4792266"/>
            <a:ext cx="495181" cy="495181"/>
          </a:xfrm>
          <a:prstGeom prst="roundRect">
            <a:avLst>
              <a:gd name="adj" fmla="val 18669"/>
            </a:avLst>
          </a:prstGeom>
          <a:solidFill>
            <a:srgbClr val="31136C"/>
          </a:solidFill>
          <a:ln w="7620">
            <a:solidFill>
              <a:srgbClr val="4A2C8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931218" y="4867870"/>
            <a:ext cx="3461147" cy="3438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High Throughput Margin</a:t>
            </a:r>
            <a:endParaRPr lang="en-US" sz="2150" dirty="0"/>
          </a:p>
        </p:txBody>
      </p:sp>
      <p:sp>
        <p:nvSpPr>
          <p:cNvPr id="17" name="Text 15"/>
          <p:cNvSpPr/>
          <p:nvPr/>
        </p:nvSpPr>
        <p:spPr>
          <a:xfrm>
            <a:off x="5931218" y="5339834"/>
            <a:ext cx="3476625" cy="3469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High throughput margin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9674781" y="4792266"/>
            <a:ext cx="495181" cy="495181"/>
          </a:xfrm>
          <a:prstGeom prst="roundRect">
            <a:avLst>
              <a:gd name="adj" fmla="val 18669"/>
            </a:avLst>
          </a:prstGeom>
          <a:solidFill>
            <a:srgbClr val="31136C"/>
          </a:solidFill>
          <a:ln w="7620">
            <a:solidFill>
              <a:srgbClr val="4A2C8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10383441" y="4867870"/>
            <a:ext cx="2874764" cy="3438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Moderate Model Size</a:t>
            </a:r>
            <a:endParaRPr lang="en-US" sz="2150" dirty="0"/>
          </a:p>
        </p:txBody>
      </p:sp>
      <p:sp>
        <p:nvSpPr>
          <p:cNvPr id="20" name="Text 18"/>
          <p:cNvSpPr/>
          <p:nvPr/>
        </p:nvSpPr>
        <p:spPr>
          <a:xfrm>
            <a:off x="10383441" y="5339834"/>
            <a:ext cx="3476625" cy="693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Moderate model size compared to diffusion-based methods</a:t>
            </a:r>
            <a:endParaRPr lang="en-US" sz="1700" dirty="0"/>
          </a:p>
        </p:txBody>
      </p:sp>
      <p:sp>
        <p:nvSpPr>
          <p:cNvPr id="21" name="Shape 19"/>
          <p:cNvSpPr/>
          <p:nvPr/>
        </p:nvSpPr>
        <p:spPr>
          <a:xfrm>
            <a:off x="770334" y="6384031"/>
            <a:ext cx="13089731" cy="35123"/>
          </a:xfrm>
          <a:prstGeom prst="rect">
            <a:avLst/>
          </a:prstGeom>
          <a:solidFill>
            <a:srgbClr val="DCD7E5">
              <a:alpha val="5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770334" y="6659404"/>
            <a:ext cx="13089731" cy="917615"/>
          </a:xfrm>
          <a:prstGeom prst="roundRect">
            <a:avLst>
              <a:gd name="adj" fmla="val 10074"/>
            </a:avLst>
          </a:prstGeom>
          <a:solidFill>
            <a:srgbClr val="1E0C4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0362" y="6978134"/>
            <a:ext cx="275034" cy="220028"/>
          </a:xfrm>
          <a:prstGeom prst="rect">
            <a:avLst/>
          </a:prstGeom>
        </p:spPr>
      </p:pic>
      <p:sp>
        <p:nvSpPr>
          <p:cNvPr id="24" name="Text 21"/>
          <p:cNvSpPr/>
          <p:nvPr/>
        </p:nvSpPr>
        <p:spPr>
          <a:xfrm>
            <a:off x="1485424" y="6927890"/>
            <a:ext cx="12154614" cy="3469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Overall takeaway:</a:t>
            </a:r>
            <a:r>
              <a:rPr lang="en-US" sz="1700" dirty="0">
                <a:solidFill>
                  <a:srgbClr val="FFFFFF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 Livatar-1 demonstrates that real-time lip-sync with acceptable quality is technically feasible.</a:t>
            </a:r>
            <a:endParaRPr lang="en-US" sz="1700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63885132-B351-3FF2-2D95-8784528E897B}"/>
              </a:ext>
            </a:extLst>
          </p:cNvPr>
          <p:cNvSpPr/>
          <p:nvPr/>
        </p:nvSpPr>
        <p:spPr>
          <a:xfrm>
            <a:off x="12744450" y="7736681"/>
            <a:ext cx="1821656" cy="428625"/>
          </a:xfrm>
          <a:prstGeom prst="rect">
            <a:avLst/>
          </a:prstGeom>
          <a:solidFill>
            <a:srgbClr val="0D0A2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982504"/>
            <a:ext cx="8471773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Limitations &amp; Open Questions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1782008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Limitations:</a:t>
            </a:r>
            <a:endParaRPr lang="en-US" sz="26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3310" y="2516981"/>
            <a:ext cx="60960" cy="1149667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81564" y="2547461"/>
            <a:ext cx="3870841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Latency definition not fully specified (unclear what is included in "end-to-end")</a:t>
            </a:r>
            <a:endParaRPr lang="en-US" sz="17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05413" y="2516981"/>
            <a:ext cx="60960" cy="1149667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523667" y="2547461"/>
            <a:ext cx="387084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Quality mainly assessed via single objective metrics</a:t>
            </a:r>
            <a:endParaRPr lang="en-US" sz="175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47515" y="2516981"/>
            <a:ext cx="60960" cy="1149667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9965769" y="2547461"/>
            <a:ext cx="387084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No perceptual user study</a:t>
            </a:r>
            <a:endParaRPr lang="en-US" sz="1750" dirty="0"/>
          </a:p>
        </p:txBody>
      </p:sp>
      <p:sp>
        <p:nvSpPr>
          <p:cNvPr id="10" name="Shape 5"/>
          <p:cNvSpPr/>
          <p:nvPr/>
        </p:nvSpPr>
        <p:spPr>
          <a:xfrm>
            <a:off x="793790" y="4004700"/>
            <a:ext cx="13042821" cy="35957"/>
          </a:xfrm>
          <a:prstGeom prst="rect">
            <a:avLst/>
          </a:prstGeom>
          <a:solidFill>
            <a:srgbClr val="DCD7E5">
              <a:alpha val="5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6"/>
          <p:cNvSpPr/>
          <p:nvPr/>
        </p:nvSpPr>
        <p:spPr>
          <a:xfrm>
            <a:off x="793790" y="4380786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Missing analysis:</a:t>
            </a:r>
            <a:endParaRPr lang="en-US" sz="2650" dirty="0"/>
          </a:p>
        </p:txBody>
      </p:sp>
      <p:sp>
        <p:nvSpPr>
          <p:cNvPr id="12" name="Text 7"/>
          <p:cNvSpPr/>
          <p:nvPr/>
        </p:nvSpPr>
        <p:spPr>
          <a:xfrm>
            <a:off x="793790" y="5350312"/>
            <a:ext cx="6244709" cy="10887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No systematic </a:t>
            </a:r>
            <a:r>
              <a:rPr lang="en-US" sz="1750" b="1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quality vs latency curve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No exploration of quality degradation below </a:t>
            </a:r>
            <a:r>
              <a:rPr lang="en-US" sz="1750" b="1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~170 ms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No defined perceptual acceptability thresholds</a:t>
            </a:r>
            <a:endParaRPr lang="en-US" sz="1750" dirty="0"/>
          </a:p>
        </p:txBody>
      </p:sp>
      <p:sp>
        <p:nvSpPr>
          <p:cNvPr id="13" name="Shape 8"/>
          <p:cNvSpPr/>
          <p:nvPr/>
        </p:nvSpPr>
        <p:spPr>
          <a:xfrm>
            <a:off x="7436168" y="5146238"/>
            <a:ext cx="6571417" cy="2100739"/>
          </a:xfrm>
          <a:prstGeom prst="roundRect">
            <a:avLst>
              <a:gd name="adj" fmla="val 7774"/>
            </a:avLst>
          </a:prstGeom>
          <a:solidFill>
            <a:srgbClr val="481C9E">
              <a:alpha val="9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9"/>
          <p:cNvSpPr/>
          <p:nvPr/>
        </p:nvSpPr>
        <p:spPr>
          <a:xfrm>
            <a:off x="7662982" y="5373053"/>
            <a:ext cx="3704034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Connection to our project:</a:t>
            </a:r>
            <a:endParaRPr lang="en-US" sz="2200" dirty="0"/>
          </a:p>
        </p:txBody>
      </p:sp>
      <p:sp>
        <p:nvSpPr>
          <p:cNvPr id="15" name="Text 10"/>
          <p:cNvSpPr/>
          <p:nvPr/>
        </p:nvSpPr>
        <p:spPr>
          <a:xfrm>
            <a:off x="7662982" y="5954197"/>
            <a:ext cx="6117788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This paper motivates quantifying how quality degrades as latency constraints tighten and linking objective metrics with human perception.</a:t>
            </a:r>
            <a:endParaRPr lang="en-US" sz="1750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AA3F128-E8AD-FCDD-3627-9933A83706CB}"/>
              </a:ext>
            </a:extLst>
          </p:cNvPr>
          <p:cNvSpPr/>
          <p:nvPr/>
        </p:nvSpPr>
        <p:spPr>
          <a:xfrm>
            <a:off x="12744450" y="7736681"/>
            <a:ext cx="1821656" cy="428625"/>
          </a:xfrm>
          <a:prstGeom prst="rect">
            <a:avLst/>
          </a:prstGeom>
          <a:solidFill>
            <a:srgbClr val="0D0A2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3170634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References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4333042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H. Liu, X. Hong, X. Yang, Y. Ruan, X. Lian, M. Lingelbach, H. Yi, and W. Li, “Livatar-1: Real-Time Talking Heads Generation with Tailored Flow Matching,” </a:t>
            </a:r>
            <a:r>
              <a:rPr lang="en-US" sz="1750" i="1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arXiv</a:t>
            </a:r>
            <a:r>
              <a:rPr lang="en-US" sz="17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, Jul. 2025. [Online]. Available: </a:t>
            </a:r>
            <a:r>
              <a:rPr lang="en-US" sz="1750" u="sng" dirty="0">
                <a:solidFill>
                  <a:srgbClr val="8252E0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https://arxiv.org/abs/2507.18649</a:t>
            </a:r>
            <a:endParaRPr lang="en-US" sz="175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495657E-589D-247D-B09D-C0215828C863}"/>
              </a:ext>
            </a:extLst>
          </p:cNvPr>
          <p:cNvSpPr/>
          <p:nvPr/>
        </p:nvSpPr>
        <p:spPr>
          <a:xfrm>
            <a:off x="12744450" y="7736681"/>
            <a:ext cx="1821656" cy="428625"/>
          </a:xfrm>
          <a:prstGeom prst="rect">
            <a:avLst/>
          </a:prstGeom>
          <a:solidFill>
            <a:srgbClr val="0D0A2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721</Words>
  <Application>Microsoft Office PowerPoint</Application>
  <PresentationFormat>Custom</PresentationFormat>
  <Paragraphs>113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Montserrat</vt:lpstr>
      <vt:lpstr>Heebo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Filipp Lotsmanov</cp:lastModifiedBy>
  <cp:revision>3</cp:revision>
  <dcterms:created xsi:type="dcterms:W3CDTF">2026-02-11T08:33:38Z</dcterms:created>
  <dcterms:modified xsi:type="dcterms:W3CDTF">2026-02-15T13:47:03Z</dcterms:modified>
</cp:coreProperties>
</file>