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8458200"/>
  <p:notesSz cx="11430000" cy="8458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F0F4F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F0F4F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F0F4F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F0F4F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176536" y="4591050"/>
            <a:ext cx="27305" cy="9525"/>
          </a:xfrm>
          <a:custGeom>
            <a:avLst/>
            <a:gdLst/>
            <a:ahLst/>
            <a:cxnLst/>
            <a:rect l="l" t="t" r="r" b="b"/>
            <a:pathLst>
              <a:path w="27304" h="9525">
                <a:moveTo>
                  <a:pt x="27139" y="0"/>
                </a:moveTo>
                <a:lnTo>
                  <a:pt x="0" y="0"/>
                </a:lnTo>
                <a:lnTo>
                  <a:pt x="0" y="9524"/>
                </a:lnTo>
                <a:lnTo>
                  <a:pt x="27139" y="9524"/>
                </a:lnTo>
                <a:lnTo>
                  <a:pt x="27139" y="0"/>
                </a:lnTo>
                <a:close/>
              </a:path>
            </a:pathLst>
          </a:custGeom>
          <a:solidFill>
            <a:srgbClr val="A8F0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261347" y="4591050"/>
            <a:ext cx="26670" cy="9525"/>
          </a:xfrm>
          <a:custGeom>
            <a:avLst/>
            <a:gdLst/>
            <a:ahLst/>
            <a:cxnLst/>
            <a:rect l="l" t="t" r="r" b="b"/>
            <a:pathLst>
              <a:path w="26670" h="9525">
                <a:moveTo>
                  <a:pt x="26123" y="0"/>
                </a:moveTo>
                <a:lnTo>
                  <a:pt x="0" y="0"/>
                </a:lnTo>
                <a:lnTo>
                  <a:pt x="0" y="9524"/>
                </a:lnTo>
                <a:lnTo>
                  <a:pt x="26123" y="9524"/>
                </a:lnTo>
                <a:lnTo>
                  <a:pt x="26123" y="0"/>
                </a:lnTo>
                <a:close/>
              </a:path>
            </a:pathLst>
          </a:custGeom>
          <a:solidFill>
            <a:srgbClr val="A8F00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352107"/>
            <a:ext cx="9859010" cy="1216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F0F4F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arxiv.org/pdf/2505.03859" TargetMode="External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73625" y="860075"/>
            <a:ext cx="5606415" cy="3769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120650">
              <a:lnSpc>
                <a:spcPts val="3679"/>
              </a:lnSpc>
              <a:spcBef>
                <a:spcPts val="105"/>
              </a:spcBef>
            </a:pPr>
            <a:r>
              <a:rPr dirty="0" sz="2950" spc="1235">
                <a:solidFill>
                  <a:srgbClr val="F0F4F1"/>
                </a:solidFill>
                <a:latin typeface="SimSun-ExtB"/>
                <a:cs typeface="SimSun-ExtB"/>
              </a:rPr>
              <a:t>DeepĒakes</a:t>
            </a:r>
            <a:r>
              <a:rPr dirty="0" sz="2950" spc="-540">
                <a:solidFill>
                  <a:srgbClr val="F0F4F1"/>
                </a:solidFill>
                <a:latin typeface="SimSun-ExtB"/>
                <a:cs typeface="SimSun-ExtB"/>
              </a:rPr>
              <a:t> </a:t>
            </a:r>
            <a:r>
              <a:rPr dirty="0" sz="2950" spc="1460">
                <a:solidFill>
                  <a:srgbClr val="F0F4F1"/>
                </a:solidFill>
                <a:latin typeface="SimSun-ExtB"/>
                <a:cs typeface="SimSun-ExtB"/>
              </a:rPr>
              <a:t>on </a:t>
            </a:r>
            <a:r>
              <a:rPr dirty="0" sz="2950" spc="1260">
                <a:solidFill>
                  <a:srgbClr val="F0F4F1"/>
                </a:solidFill>
                <a:latin typeface="SimSun-ExtB"/>
                <a:cs typeface="SimSun-ExtB"/>
              </a:rPr>
              <a:t>Defiand:</a:t>
            </a:r>
            <a:r>
              <a:rPr dirty="0" sz="2950" spc="-665">
                <a:solidFill>
                  <a:srgbClr val="F0F4F1"/>
                </a:solidFill>
                <a:latin typeface="SimSun-ExtB"/>
                <a:cs typeface="SimSun-ExtB"/>
              </a:rPr>
              <a:t> </a:t>
            </a:r>
            <a:r>
              <a:rPr dirty="0" sz="2950" spc="1565">
                <a:solidFill>
                  <a:srgbClr val="F0F4F1"/>
                </a:solidFill>
                <a:latin typeface="SimSun-ExtB"/>
                <a:cs typeface="SimSun-ExtB"/>
              </a:rPr>
              <a:t>The</a:t>
            </a:r>
            <a:r>
              <a:rPr dirty="0" sz="2950" spc="-545">
                <a:solidFill>
                  <a:srgbClr val="F0F4F1"/>
                </a:solidFill>
                <a:latin typeface="SimSun-ExtB"/>
                <a:cs typeface="SimSun-ExtB"/>
              </a:rPr>
              <a:t> </a:t>
            </a:r>
            <a:r>
              <a:rPr dirty="0" sz="2950" spc="1019">
                <a:solidFill>
                  <a:srgbClr val="F0F4F1"/>
                </a:solidFill>
                <a:latin typeface="SimSun-ExtB"/>
                <a:cs typeface="SimSun-ExtB"/>
              </a:rPr>
              <a:t>Rise</a:t>
            </a:r>
            <a:endParaRPr sz="2950">
              <a:latin typeface="SimSun-ExtB"/>
              <a:cs typeface="SimSun-ExtB"/>
            </a:endParaRPr>
          </a:p>
          <a:p>
            <a:pPr marL="12700" marR="23495">
              <a:lnSpc>
                <a:spcPts val="3679"/>
              </a:lnSpc>
              <a:spcBef>
                <a:spcPts val="65"/>
              </a:spcBef>
            </a:pPr>
            <a:r>
              <a:rPr dirty="0" sz="2950" spc="270">
                <a:solidFill>
                  <a:srgbClr val="F0F4F1"/>
                </a:solidFill>
                <a:latin typeface="SimSun-ExtB"/>
                <a:cs typeface="SimSun-ExtB"/>
              </a:rPr>
              <a:t>oĒ</a:t>
            </a:r>
            <a:r>
              <a:rPr dirty="0" sz="2950" spc="-570">
                <a:solidFill>
                  <a:srgbClr val="F0F4F1"/>
                </a:solidFill>
                <a:latin typeface="SimSun-ExtB"/>
                <a:cs typeface="SimSun-ExtB"/>
              </a:rPr>
              <a:t> </a:t>
            </a:r>
            <a:r>
              <a:rPr dirty="0" sz="2950" spc="1055">
                <a:solidFill>
                  <a:srgbClr val="F0F4F1"/>
                </a:solidFill>
                <a:latin typeface="SimSun-ExtB"/>
                <a:cs typeface="SimSun-ExtB"/>
              </a:rPr>
              <a:t>Accessible</a:t>
            </a:r>
            <a:r>
              <a:rPr dirty="0" sz="2950" spc="-555">
                <a:solidFill>
                  <a:srgbClr val="F0F4F1"/>
                </a:solidFill>
                <a:latin typeface="SimSun-ExtB"/>
                <a:cs typeface="SimSun-ExtB"/>
              </a:rPr>
              <a:t> </a:t>
            </a:r>
            <a:r>
              <a:rPr dirty="0" sz="2950" spc="1375">
                <a:solidFill>
                  <a:srgbClr val="F0F4F1"/>
                </a:solidFill>
                <a:latin typeface="SimSun-ExtB"/>
                <a:cs typeface="SimSun-ExtB"/>
              </a:rPr>
              <a:t>Non- </a:t>
            </a:r>
            <a:r>
              <a:rPr dirty="0" sz="2950" spc="1285">
                <a:solidFill>
                  <a:srgbClr val="F0F4F1"/>
                </a:solidFill>
                <a:latin typeface="SimSun-ExtB"/>
                <a:cs typeface="SimSun-ExtB"/>
              </a:rPr>
              <a:t>Consensual </a:t>
            </a:r>
            <a:r>
              <a:rPr dirty="0" sz="2950" spc="1265">
                <a:solidFill>
                  <a:srgbClr val="F0F4F1"/>
                </a:solidFill>
                <a:latin typeface="SimSun-ExtB"/>
                <a:cs typeface="SimSun-ExtB"/>
              </a:rPr>
              <a:t>DeepĒake</a:t>
            </a:r>
            <a:r>
              <a:rPr dirty="0" sz="2950" spc="-550">
                <a:solidFill>
                  <a:srgbClr val="F0F4F1"/>
                </a:solidFill>
                <a:latin typeface="SimSun-ExtB"/>
                <a:cs typeface="SimSun-ExtB"/>
              </a:rPr>
              <a:t> </a:t>
            </a:r>
            <a:r>
              <a:rPr dirty="0" sz="2950" spc="994">
                <a:solidFill>
                  <a:srgbClr val="F0F4F1"/>
                </a:solidFill>
                <a:latin typeface="SimSun-ExtB"/>
                <a:cs typeface="SimSun-ExtB"/>
              </a:rPr>
              <a:t>Ifiage </a:t>
            </a:r>
            <a:r>
              <a:rPr dirty="0" sz="2950" spc="1155">
                <a:solidFill>
                  <a:srgbClr val="F0F4F1"/>
                </a:solidFill>
                <a:latin typeface="SimSun-ExtB"/>
                <a:cs typeface="SimSun-ExtB"/>
              </a:rPr>
              <a:t>Generators</a:t>
            </a:r>
            <a:endParaRPr sz="2950">
              <a:latin typeface="SimSun-ExtB"/>
              <a:cs typeface="SimSun-ExtB"/>
            </a:endParaRPr>
          </a:p>
          <a:p>
            <a:pPr marL="12700" marR="5080">
              <a:lnSpc>
                <a:spcPct val="114700"/>
              </a:lnSpc>
              <a:spcBef>
                <a:spcPts val="1950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Will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Hawkiks,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Chǐis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Russell,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Bǐekl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Millelsladl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70">
                <a:solidFill>
                  <a:srgbClr val="D7E5D8"/>
                </a:solidFill>
                <a:latin typeface="Microsoft Sans Serif"/>
                <a:cs typeface="Microsoft Sans Serif"/>
              </a:rPr>
              <a:t>—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Oxroǐd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Ikleǐkel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Ikslilule,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UkiveǐsilQ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or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Oxroǐd.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Published: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F6ccH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45">
                <a:solidFill>
                  <a:srgbClr val="D7E5D8"/>
                </a:solidFill>
                <a:latin typeface="Microsoft Sans Serif"/>
                <a:cs typeface="Microsoft Sans Serif"/>
              </a:rPr>
              <a:t>'2y,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6lheks,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“ǐeece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60">
                <a:solidFill>
                  <a:srgbClr val="D7E5D8"/>
                </a:solidFill>
                <a:latin typeface="Microsoft Sans Serif"/>
                <a:cs typeface="Microsoft Sans Serif"/>
              </a:rPr>
              <a:t>(MaQ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202y).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Pǐesekled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95">
                <a:solidFill>
                  <a:srgbClr val="D7E5D8"/>
                </a:solidFill>
                <a:latin typeface="Microsoft Sans Serif"/>
                <a:cs typeface="Microsoft Sans Serif"/>
              </a:rPr>
              <a:t>bQ: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10">
                <a:solidFill>
                  <a:srgbClr val="D7E5D8"/>
                </a:solidFill>
                <a:latin typeface="Palatino Linotype"/>
                <a:cs typeface="Palatino Linotype"/>
              </a:rPr>
              <a:t>М4&gt;с8@</a:t>
            </a:r>
            <a:r>
              <a:rPr dirty="0" sz="1400" spc="-35">
                <a:solidFill>
                  <a:srgbClr val="D7E5D8"/>
                </a:solidFill>
                <a:latin typeface="Palatino Linotype"/>
                <a:cs typeface="Palatino Linotype"/>
              </a:rPr>
              <a:t> </a:t>
            </a:r>
            <a:r>
              <a:rPr dirty="0" sz="1150" spc="-50">
                <a:solidFill>
                  <a:srgbClr val="D7E5D8"/>
                </a:solidFill>
                <a:latin typeface="Microsoft Sans Serif"/>
                <a:cs typeface="Microsoft Sans Serif"/>
              </a:rPr>
              <a:t>·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Reseaǐch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Cohoǐl: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45">
                <a:solidFill>
                  <a:srgbClr val="D7E5D8"/>
                </a:solidFill>
                <a:latin typeface="Palatino Linotype"/>
                <a:cs typeface="Palatino Linotype"/>
              </a:rPr>
              <a:t>745ы?</a:t>
            </a:r>
            <a:r>
              <a:rPr dirty="0" sz="1150" spc="-45">
                <a:solidFill>
                  <a:srgbClr val="D7E5D8"/>
                </a:solidFill>
                <a:latin typeface="Microsoft Sans Serif"/>
                <a:cs typeface="Microsoft Sans Serif"/>
              </a:rPr>
              <a:t>.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150" spc="80" b="1">
                <a:solidFill>
                  <a:srgbClr val="A8F00E"/>
                </a:solidFill>
                <a:uFill>
                  <a:solidFill>
                    <a:srgbClr val="A8F00E"/>
                  </a:solidFill>
                </a:uFill>
                <a:latin typeface="Trebuchet MS"/>
                <a:cs typeface="Trebuchet MS"/>
                <a:hlinkClick r:id="rId2"/>
              </a:rPr>
              <a:t>https://arxiv.orą/pdf/2</a:t>
            </a:r>
            <a:r>
              <a:rPr dirty="0" sz="1150" spc="80" b="1">
                <a:solidFill>
                  <a:srgbClr val="A8F00E"/>
                </a:solidFill>
                <a:latin typeface="Trebuchet MS"/>
                <a:cs typeface="Trebuchet MS"/>
                <a:hlinkClick r:id="rId2"/>
              </a:rPr>
              <a:t>5</a:t>
            </a:r>
            <a:r>
              <a:rPr dirty="0" u="sng" sz="1150" spc="80" b="1">
                <a:solidFill>
                  <a:srgbClr val="A8F00E"/>
                </a:solidFill>
                <a:uFill>
                  <a:solidFill>
                    <a:srgbClr val="A8F00E"/>
                  </a:solidFill>
                </a:uFill>
                <a:latin typeface="Trebuchet MS"/>
                <a:cs typeface="Trebuchet MS"/>
                <a:hlinkClick r:id="rId2"/>
              </a:rPr>
              <a:t>0</a:t>
            </a:r>
            <a:r>
              <a:rPr dirty="0" sz="1150" spc="80" b="1">
                <a:solidFill>
                  <a:srgbClr val="A8F00E"/>
                </a:solidFill>
                <a:latin typeface="Trebuchet MS"/>
                <a:cs typeface="Trebuchet MS"/>
                <a:hlinkClick r:id="rId2"/>
              </a:rPr>
              <a:t>5</a:t>
            </a:r>
            <a:r>
              <a:rPr dirty="0" u="sng" sz="1150" spc="80" b="1">
                <a:solidFill>
                  <a:srgbClr val="A8F00E"/>
                </a:solidFill>
                <a:uFill>
                  <a:solidFill>
                    <a:srgbClr val="A8F00E"/>
                  </a:solidFill>
                </a:uFill>
                <a:latin typeface="Trebuchet MS"/>
                <a:cs typeface="Trebuchet MS"/>
                <a:hlinkClick r:id="rId2"/>
              </a:rPr>
              <a:t>.0</a:t>
            </a:r>
            <a:r>
              <a:rPr dirty="0" sz="1150" spc="80" b="1">
                <a:solidFill>
                  <a:srgbClr val="A8F00E"/>
                </a:solidFill>
                <a:latin typeface="Trebuchet MS"/>
                <a:cs typeface="Trebuchet MS"/>
                <a:hlinkClick r:id="rId2"/>
              </a:rPr>
              <a:t>3</a:t>
            </a:r>
            <a:r>
              <a:rPr dirty="0" u="sng" sz="1150" spc="80" b="1">
                <a:solidFill>
                  <a:srgbClr val="A8F00E"/>
                </a:solidFill>
                <a:uFill>
                  <a:solidFill>
                    <a:srgbClr val="A8F00E"/>
                  </a:solidFill>
                </a:uFill>
                <a:latin typeface="Trebuchet MS"/>
                <a:cs typeface="Trebuchet MS"/>
                <a:hlinkClick r:id="rId2"/>
              </a:rPr>
              <a:t>8</a:t>
            </a:r>
            <a:r>
              <a:rPr dirty="0" sz="1150" spc="80" b="1">
                <a:solidFill>
                  <a:srgbClr val="A8F00E"/>
                </a:solidFill>
                <a:latin typeface="Trebuchet MS"/>
                <a:cs typeface="Trebuchet MS"/>
                <a:hlinkClick r:id="rId2"/>
              </a:rPr>
              <a:t>59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873625" y="4760753"/>
            <a:ext cx="5884545" cy="7588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ct val="138600"/>
              </a:lnSpc>
              <a:spcBef>
                <a:spcPts val="130"/>
              </a:spcBef>
            </a:pP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6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cokcise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academic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summaǐQ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25">
                <a:solidFill>
                  <a:srgbClr val="D7E5D8"/>
                </a:solidFill>
                <a:latin typeface="Microsoft Sans Serif"/>
                <a:cs typeface="Microsoft Sans Serif"/>
              </a:rPr>
              <a:t>y-</a:t>
            </a:r>
            <a:r>
              <a:rPr dirty="0" sz="1150" spc="120">
                <a:solidFill>
                  <a:srgbClr val="D7E5D8"/>
                </a:solidFill>
                <a:latin typeface="Microsoft Sans Serif"/>
                <a:cs typeface="Microsoft Sans Serif"/>
              </a:rPr>
              <a:t>ı0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mikule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ǐeseaǐch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pǐeseklaliok.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5">
                <a:solidFill>
                  <a:srgbClr val="D7E5D8"/>
                </a:solidFill>
                <a:latin typeface="Microsoft Sans Serif"/>
                <a:cs typeface="Microsoft Sans Serif"/>
              </a:rPr>
              <a:t>Hhis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deck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oullikes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molivalioks,</a:t>
            </a:r>
            <a:r>
              <a:rPr dirty="0" sz="1150" spc="1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melhods,</a:t>
            </a:r>
            <a:r>
              <a:rPr dirty="0" sz="1150" spc="1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majoǐ</a:t>
            </a:r>
            <a:r>
              <a:rPr dirty="0" sz="1150" spc="1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rikdikσs,</a:t>
            </a:r>
            <a:r>
              <a:rPr dirty="0" sz="1150" spc="1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0">
                <a:solidFill>
                  <a:srgbClr val="D7E5D8"/>
                </a:solidFill>
                <a:latin typeface="Microsoft Sans Serif"/>
                <a:cs typeface="Microsoft Sans Serif"/>
              </a:rPr>
              <a:t>policQ</a:t>
            </a:r>
            <a:r>
              <a:rPr dirty="0" sz="1150" spc="1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implicalioks,</a:t>
            </a:r>
            <a:r>
              <a:rPr dirty="0" sz="1150" spc="1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1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oppoǐlukilies</a:t>
            </a:r>
            <a:r>
              <a:rPr dirty="0" sz="1150" spc="1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r>
              <a:rPr dirty="0" sz="1150" spc="1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rollow-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up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ǐeseaǐch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wilhik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ǐespoksible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6I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σoveǐkakce.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4" name="object 4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67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420"/>
              <a:t>Why</a:t>
            </a:r>
            <a:r>
              <a:rPr dirty="0" spc="-65"/>
              <a:t> </a:t>
            </a:r>
            <a:r>
              <a:rPr dirty="0" spc="815"/>
              <a:t>This</a:t>
            </a:r>
            <a:r>
              <a:rPr dirty="0" spc="40"/>
              <a:t> </a:t>
            </a:r>
            <a:r>
              <a:rPr dirty="0" spc="1010"/>
              <a:t>Research</a:t>
            </a:r>
            <a:r>
              <a:rPr dirty="0" spc="35"/>
              <a:t> </a:t>
            </a:r>
            <a:r>
              <a:rPr dirty="0" spc="930"/>
              <a:t>Matters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7372" y="1703228"/>
            <a:ext cx="9497060" cy="7397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Advances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in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text-to-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image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50">
                <a:solidFill>
                  <a:srgbClr val="D7E5D8"/>
                </a:solidFill>
                <a:latin typeface="Microsoft Sans Serif"/>
                <a:cs typeface="Microsoft Sans Serif"/>
              </a:rPr>
              <a:t>(T2I)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have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dǐamatically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loweǐed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the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baǐǐieǐ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to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pǐoducing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photoǐealistic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images.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Open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weights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and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community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ǐepositoǐies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65">
                <a:solidFill>
                  <a:srgbClr val="D7E5D8"/>
                </a:solidFill>
                <a:latin typeface="Microsoft Sans Serif"/>
                <a:cs typeface="Microsoft Sans Serif"/>
              </a:rPr>
              <a:t>(e.g.,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Stable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Diffusion,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Flux)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can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be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downloaded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and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fin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e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tuned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locally,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enabling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ǐapid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cǐeation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of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highly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ǐealistic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imageǐy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70">
                <a:solidFill>
                  <a:srgbClr val="D7E5D8"/>
                </a:solidFill>
                <a:latin typeface="Microsoft Sans Serif"/>
                <a:cs typeface="Microsoft Sans Serif"/>
              </a:rPr>
              <a:t>—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including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non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consensual</a:t>
            </a:r>
            <a:r>
              <a:rPr dirty="0" sz="1150" spc="11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content.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00075" y="2638424"/>
            <a:ext cx="3314700" cy="2724150"/>
            <a:chOff x="600075" y="2638424"/>
            <a:chExt cx="3314700" cy="2724150"/>
          </a:xfrm>
        </p:grpSpPr>
        <p:sp>
          <p:nvSpPr>
            <p:cNvPr id="6" name="object 6" descr=""/>
            <p:cNvSpPr/>
            <p:nvPr/>
          </p:nvSpPr>
          <p:spPr>
            <a:xfrm>
              <a:off x="604837" y="2643187"/>
              <a:ext cx="3305175" cy="2714625"/>
            </a:xfrm>
            <a:custGeom>
              <a:avLst/>
              <a:gdLst/>
              <a:ahLst/>
              <a:cxnLst/>
              <a:rect l="l" t="t" r="r" b="b"/>
              <a:pathLst>
                <a:path w="3305175" h="2714625">
                  <a:moveTo>
                    <a:pt x="3263760" y="0"/>
                  </a:moveTo>
                  <a:lnTo>
                    <a:pt x="41413" y="0"/>
                  </a:lnTo>
                  <a:lnTo>
                    <a:pt x="35322" y="1206"/>
                  </a:lnTo>
                  <a:lnTo>
                    <a:pt x="1210" y="35318"/>
                  </a:lnTo>
                  <a:lnTo>
                    <a:pt x="0" y="41414"/>
                  </a:lnTo>
                  <a:lnTo>
                    <a:pt x="0" y="2666881"/>
                  </a:lnTo>
                  <a:lnTo>
                    <a:pt x="0" y="2673211"/>
                  </a:lnTo>
                  <a:lnTo>
                    <a:pt x="23624" y="2708568"/>
                  </a:lnTo>
                  <a:lnTo>
                    <a:pt x="41413" y="2714626"/>
                  </a:lnTo>
                  <a:lnTo>
                    <a:pt x="3263760" y="2714626"/>
                  </a:lnTo>
                  <a:lnTo>
                    <a:pt x="3299117" y="2691001"/>
                  </a:lnTo>
                  <a:lnTo>
                    <a:pt x="3305175" y="2673211"/>
                  </a:lnTo>
                  <a:lnTo>
                    <a:pt x="3305175" y="41414"/>
                  </a:lnTo>
                  <a:lnTo>
                    <a:pt x="3281553" y="6057"/>
                  </a:lnTo>
                  <a:lnTo>
                    <a:pt x="3269856" y="1206"/>
                  </a:lnTo>
                  <a:lnTo>
                    <a:pt x="326376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4837" y="2643187"/>
              <a:ext cx="3305175" cy="2714625"/>
            </a:xfrm>
            <a:custGeom>
              <a:avLst/>
              <a:gdLst/>
              <a:ahLst/>
              <a:cxnLst/>
              <a:rect l="l" t="t" r="r" b="b"/>
              <a:pathLst>
                <a:path w="3305175" h="2714625">
                  <a:moveTo>
                    <a:pt x="0" y="2666881"/>
                  </a:moveTo>
                  <a:lnTo>
                    <a:pt x="0" y="47739"/>
                  </a:lnTo>
                  <a:lnTo>
                    <a:pt x="0" y="41414"/>
                  </a:lnTo>
                  <a:lnTo>
                    <a:pt x="1210" y="35318"/>
                  </a:lnTo>
                  <a:lnTo>
                    <a:pt x="3636" y="29476"/>
                  </a:lnTo>
                  <a:lnTo>
                    <a:pt x="6057" y="23622"/>
                  </a:lnTo>
                  <a:lnTo>
                    <a:pt x="9504" y="18465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3257435" y="0"/>
                  </a:lnTo>
                  <a:lnTo>
                    <a:pt x="3263760" y="0"/>
                  </a:lnTo>
                  <a:lnTo>
                    <a:pt x="3269856" y="1206"/>
                  </a:lnTo>
                  <a:lnTo>
                    <a:pt x="3275698" y="3632"/>
                  </a:lnTo>
                  <a:lnTo>
                    <a:pt x="3281553" y="6057"/>
                  </a:lnTo>
                  <a:lnTo>
                    <a:pt x="3301542" y="29476"/>
                  </a:lnTo>
                  <a:lnTo>
                    <a:pt x="3303968" y="35318"/>
                  </a:lnTo>
                  <a:lnTo>
                    <a:pt x="3305175" y="41414"/>
                  </a:lnTo>
                  <a:lnTo>
                    <a:pt x="3305175" y="47739"/>
                  </a:lnTo>
                  <a:lnTo>
                    <a:pt x="3305175" y="2666881"/>
                  </a:lnTo>
                  <a:lnTo>
                    <a:pt x="3305175" y="2673211"/>
                  </a:lnTo>
                  <a:lnTo>
                    <a:pt x="3303968" y="2679298"/>
                  </a:lnTo>
                  <a:lnTo>
                    <a:pt x="3275698" y="2710989"/>
                  </a:lnTo>
                  <a:lnTo>
                    <a:pt x="3269856" y="2713410"/>
                  </a:lnTo>
                  <a:lnTo>
                    <a:pt x="3263760" y="2714626"/>
                  </a:lnTo>
                  <a:lnTo>
                    <a:pt x="3257435" y="2714626"/>
                  </a:lnTo>
                  <a:lnTo>
                    <a:pt x="47744" y="2714626"/>
                  </a:lnTo>
                  <a:lnTo>
                    <a:pt x="41413" y="2714626"/>
                  </a:lnTo>
                  <a:lnTo>
                    <a:pt x="35322" y="2713410"/>
                  </a:lnTo>
                  <a:lnTo>
                    <a:pt x="29472" y="2710989"/>
                  </a:lnTo>
                  <a:lnTo>
                    <a:pt x="23624" y="2708568"/>
                  </a:lnTo>
                  <a:lnTo>
                    <a:pt x="18459" y="2705115"/>
                  </a:lnTo>
                  <a:lnTo>
                    <a:pt x="13985" y="2700641"/>
                  </a:lnTo>
                  <a:lnTo>
                    <a:pt x="9504" y="2696161"/>
                  </a:lnTo>
                  <a:lnTo>
                    <a:pt x="6057" y="2690996"/>
                  </a:lnTo>
                  <a:lnTo>
                    <a:pt x="3636" y="2685148"/>
                  </a:lnTo>
                  <a:lnTo>
                    <a:pt x="1210" y="2679298"/>
                  </a:lnTo>
                  <a:lnTo>
                    <a:pt x="0" y="2673211"/>
                  </a:lnTo>
                  <a:lnTo>
                    <a:pt x="0" y="2666881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746916" y="2771648"/>
            <a:ext cx="2907665" cy="1767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630" b="1">
                <a:solidFill>
                  <a:srgbClr val="FFFFFF"/>
                </a:solidFill>
                <a:latin typeface="Trebuchet MS"/>
                <a:cs typeface="Trebuchet MS"/>
              </a:rPr>
              <a:t>Core</a:t>
            </a:r>
            <a:r>
              <a:rPr dirty="0" sz="1450" spc="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555" b="1">
                <a:solidFill>
                  <a:srgbClr val="FFFFFF"/>
                </a:solidFill>
                <a:latin typeface="Trebuchet MS"/>
                <a:cs typeface="Trebuchet MS"/>
              </a:rPr>
              <a:t>problefi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37000"/>
              </a:lnSpc>
              <a:spcBef>
                <a:spcPts val="600"/>
              </a:spcBef>
            </a:pP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FFFFFF"/>
                </a:solidFill>
                <a:latin typeface="Microsoft Sans Serif"/>
                <a:cs typeface="Microsoft Sans Serif"/>
              </a:rPr>
              <a:t>aǐe</a:t>
            </a:r>
            <a:r>
              <a:rPr dirty="0" sz="115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being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fine</a:t>
            </a:r>
            <a:r>
              <a:rPr dirty="0" sz="100">
                <a:solidFill>
                  <a:srgbClr val="FFFFFF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tuned</a:t>
            </a:r>
            <a:r>
              <a:rPr dirty="0" sz="115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geneǐate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explicit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images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ǐeal,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identifiable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people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20">
                <a:solidFill>
                  <a:srgbClr val="FFFFFF"/>
                </a:solidFill>
                <a:latin typeface="Microsoft Sans Serif"/>
                <a:cs typeface="Microsoft Sans Serif"/>
              </a:rPr>
              <a:t>—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"deepfakes"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70">
                <a:solidFill>
                  <a:srgbClr val="FFFFFF"/>
                </a:solidFill>
                <a:latin typeface="Microsoft Sans Serif"/>
                <a:cs typeface="Microsoft Sans Serif"/>
              </a:rPr>
              <a:t>—</a:t>
            </a:r>
            <a:r>
              <a:rPr dirty="0" sz="1150" spc="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without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consent.</a:t>
            </a:r>
            <a:r>
              <a:rPr dirty="0" sz="115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FFFFFF"/>
                </a:solidFill>
                <a:latin typeface="Microsoft Sans Serif"/>
                <a:cs typeface="Microsoft Sans Serif"/>
              </a:rPr>
              <a:t>The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ecosystem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now</a:t>
            </a:r>
            <a:r>
              <a:rPr dirty="0" sz="115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enables</a:t>
            </a:r>
            <a:r>
              <a:rPr dirty="0" sz="115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actoǐs</a:t>
            </a:r>
            <a:r>
              <a:rPr dirty="0" sz="115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modest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ǐesouǐces</a:t>
            </a:r>
            <a:r>
              <a:rPr dirty="0" sz="11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dirty="0" sz="11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cǐeate</a:t>
            </a:r>
            <a:r>
              <a:rPr dirty="0" sz="115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damaging</a:t>
            </a:r>
            <a:r>
              <a:rPr dirty="0" sz="11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mateǐial quickly.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057650" y="2638424"/>
            <a:ext cx="3314700" cy="2724150"/>
            <a:chOff x="4057650" y="2638424"/>
            <a:chExt cx="3314700" cy="2724150"/>
          </a:xfrm>
        </p:grpSpPr>
        <p:sp>
          <p:nvSpPr>
            <p:cNvPr id="10" name="object 10" descr=""/>
            <p:cNvSpPr/>
            <p:nvPr/>
          </p:nvSpPr>
          <p:spPr>
            <a:xfrm>
              <a:off x="4062412" y="2643187"/>
              <a:ext cx="3305175" cy="2714625"/>
            </a:xfrm>
            <a:custGeom>
              <a:avLst/>
              <a:gdLst/>
              <a:ahLst/>
              <a:cxnLst/>
              <a:rect l="l" t="t" r="r" b="b"/>
              <a:pathLst>
                <a:path w="3305175" h="2714625">
                  <a:moveTo>
                    <a:pt x="3263760" y="0"/>
                  </a:moveTo>
                  <a:lnTo>
                    <a:pt x="41414" y="0"/>
                  </a:lnTo>
                  <a:lnTo>
                    <a:pt x="35318" y="1206"/>
                  </a:lnTo>
                  <a:lnTo>
                    <a:pt x="1206" y="35318"/>
                  </a:lnTo>
                  <a:lnTo>
                    <a:pt x="0" y="41414"/>
                  </a:lnTo>
                  <a:lnTo>
                    <a:pt x="0" y="2666881"/>
                  </a:lnTo>
                  <a:lnTo>
                    <a:pt x="0" y="2673211"/>
                  </a:lnTo>
                  <a:lnTo>
                    <a:pt x="23622" y="2708568"/>
                  </a:lnTo>
                  <a:lnTo>
                    <a:pt x="41414" y="2714626"/>
                  </a:lnTo>
                  <a:lnTo>
                    <a:pt x="3263760" y="2714626"/>
                  </a:lnTo>
                  <a:lnTo>
                    <a:pt x="3299117" y="2691001"/>
                  </a:lnTo>
                  <a:lnTo>
                    <a:pt x="3305175" y="2673211"/>
                  </a:lnTo>
                  <a:lnTo>
                    <a:pt x="3305175" y="41414"/>
                  </a:lnTo>
                  <a:lnTo>
                    <a:pt x="3281553" y="6057"/>
                  </a:lnTo>
                  <a:lnTo>
                    <a:pt x="3269856" y="1206"/>
                  </a:lnTo>
                  <a:lnTo>
                    <a:pt x="326376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62412" y="2643187"/>
              <a:ext cx="3305175" cy="2714625"/>
            </a:xfrm>
            <a:custGeom>
              <a:avLst/>
              <a:gdLst/>
              <a:ahLst/>
              <a:cxnLst/>
              <a:rect l="l" t="t" r="r" b="b"/>
              <a:pathLst>
                <a:path w="3305175" h="2714625">
                  <a:moveTo>
                    <a:pt x="0" y="2666881"/>
                  </a:moveTo>
                  <a:lnTo>
                    <a:pt x="0" y="47739"/>
                  </a:lnTo>
                  <a:lnTo>
                    <a:pt x="0" y="41414"/>
                  </a:lnTo>
                  <a:lnTo>
                    <a:pt x="1206" y="35318"/>
                  </a:lnTo>
                  <a:lnTo>
                    <a:pt x="3632" y="29476"/>
                  </a:lnTo>
                  <a:lnTo>
                    <a:pt x="6057" y="23622"/>
                  </a:lnTo>
                  <a:lnTo>
                    <a:pt x="9499" y="18465"/>
                  </a:lnTo>
                  <a:lnTo>
                    <a:pt x="13982" y="13982"/>
                  </a:lnTo>
                  <a:lnTo>
                    <a:pt x="18465" y="9512"/>
                  </a:lnTo>
                  <a:lnTo>
                    <a:pt x="23622" y="6057"/>
                  </a:lnTo>
                  <a:lnTo>
                    <a:pt x="29476" y="3632"/>
                  </a:lnTo>
                  <a:lnTo>
                    <a:pt x="35318" y="1206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3257435" y="0"/>
                  </a:lnTo>
                  <a:lnTo>
                    <a:pt x="3263760" y="0"/>
                  </a:lnTo>
                  <a:lnTo>
                    <a:pt x="3269856" y="1206"/>
                  </a:lnTo>
                  <a:lnTo>
                    <a:pt x="3275698" y="3632"/>
                  </a:lnTo>
                  <a:lnTo>
                    <a:pt x="3281553" y="6057"/>
                  </a:lnTo>
                  <a:lnTo>
                    <a:pt x="3301542" y="29476"/>
                  </a:lnTo>
                  <a:lnTo>
                    <a:pt x="3303968" y="35318"/>
                  </a:lnTo>
                  <a:lnTo>
                    <a:pt x="3305175" y="41414"/>
                  </a:lnTo>
                  <a:lnTo>
                    <a:pt x="3305175" y="47739"/>
                  </a:lnTo>
                  <a:lnTo>
                    <a:pt x="3305175" y="2666881"/>
                  </a:lnTo>
                  <a:lnTo>
                    <a:pt x="3305175" y="2673211"/>
                  </a:lnTo>
                  <a:lnTo>
                    <a:pt x="3303968" y="2679298"/>
                  </a:lnTo>
                  <a:lnTo>
                    <a:pt x="3275698" y="2710989"/>
                  </a:lnTo>
                  <a:lnTo>
                    <a:pt x="3269856" y="2713410"/>
                  </a:lnTo>
                  <a:lnTo>
                    <a:pt x="3263760" y="2714626"/>
                  </a:lnTo>
                  <a:lnTo>
                    <a:pt x="3257435" y="2714626"/>
                  </a:lnTo>
                  <a:lnTo>
                    <a:pt x="47739" y="2714626"/>
                  </a:lnTo>
                  <a:lnTo>
                    <a:pt x="41414" y="2714626"/>
                  </a:lnTo>
                  <a:lnTo>
                    <a:pt x="35318" y="2713410"/>
                  </a:lnTo>
                  <a:lnTo>
                    <a:pt x="29476" y="2710989"/>
                  </a:lnTo>
                  <a:lnTo>
                    <a:pt x="23622" y="2708568"/>
                  </a:lnTo>
                  <a:lnTo>
                    <a:pt x="0" y="2673211"/>
                  </a:lnTo>
                  <a:lnTo>
                    <a:pt x="0" y="2666881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38625" y="3219462"/>
              <a:ext cx="47625" cy="1647825"/>
            </a:xfrm>
            <a:custGeom>
              <a:avLst/>
              <a:gdLst/>
              <a:ahLst/>
              <a:cxnLst/>
              <a:rect l="l" t="t" r="r" b="b"/>
              <a:pathLst>
                <a:path w="47625" h="1647825">
                  <a:moveTo>
                    <a:pt x="47625" y="1620837"/>
                  </a:moveTo>
                  <a:lnTo>
                    <a:pt x="26962" y="1600187"/>
                  </a:lnTo>
                  <a:lnTo>
                    <a:pt x="20650" y="1600187"/>
                  </a:lnTo>
                  <a:lnTo>
                    <a:pt x="0" y="1620837"/>
                  </a:lnTo>
                  <a:lnTo>
                    <a:pt x="0" y="1627162"/>
                  </a:lnTo>
                  <a:lnTo>
                    <a:pt x="20650" y="1647812"/>
                  </a:lnTo>
                  <a:lnTo>
                    <a:pt x="26962" y="1647812"/>
                  </a:lnTo>
                  <a:lnTo>
                    <a:pt x="47625" y="1627162"/>
                  </a:lnTo>
                  <a:lnTo>
                    <a:pt x="47625" y="1623999"/>
                  </a:lnTo>
                  <a:lnTo>
                    <a:pt x="47625" y="1620837"/>
                  </a:lnTo>
                  <a:close/>
                </a:path>
                <a:path w="47625" h="1647825">
                  <a:moveTo>
                    <a:pt x="47625" y="1087437"/>
                  </a:moveTo>
                  <a:lnTo>
                    <a:pt x="26962" y="1066787"/>
                  </a:lnTo>
                  <a:lnTo>
                    <a:pt x="20650" y="1066787"/>
                  </a:lnTo>
                  <a:lnTo>
                    <a:pt x="0" y="1087437"/>
                  </a:lnTo>
                  <a:lnTo>
                    <a:pt x="0" y="1093762"/>
                  </a:lnTo>
                  <a:lnTo>
                    <a:pt x="20650" y="1114412"/>
                  </a:lnTo>
                  <a:lnTo>
                    <a:pt x="26962" y="1114412"/>
                  </a:lnTo>
                  <a:lnTo>
                    <a:pt x="47625" y="1093762"/>
                  </a:lnTo>
                  <a:lnTo>
                    <a:pt x="47625" y="1090599"/>
                  </a:lnTo>
                  <a:lnTo>
                    <a:pt x="47625" y="1087437"/>
                  </a:lnTo>
                  <a:close/>
                </a:path>
                <a:path w="47625" h="1647825">
                  <a:moveTo>
                    <a:pt x="47625" y="554037"/>
                  </a:moveTo>
                  <a:lnTo>
                    <a:pt x="26962" y="533400"/>
                  </a:lnTo>
                  <a:lnTo>
                    <a:pt x="20650" y="533400"/>
                  </a:lnTo>
                  <a:lnTo>
                    <a:pt x="0" y="554037"/>
                  </a:lnTo>
                  <a:lnTo>
                    <a:pt x="0" y="560362"/>
                  </a:lnTo>
                  <a:lnTo>
                    <a:pt x="20650" y="581025"/>
                  </a:lnTo>
                  <a:lnTo>
                    <a:pt x="26962" y="581025"/>
                  </a:lnTo>
                  <a:lnTo>
                    <a:pt x="47625" y="560362"/>
                  </a:lnTo>
                  <a:lnTo>
                    <a:pt x="47625" y="557212"/>
                  </a:lnTo>
                  <a:lnTo>
                    <a:pt x="47625" y="554037"/>
                  </a:lnTo>
                  <a:close/>
                </a:path>
                <a:path w="47625" h="1647825">
                  <a:moveTo>
                    <a:pt x="47625" y="20637"/>
                  </a:moveTo>
                  <a:lnTo>
                    <a:pt x="26962" y="0"/>
                  </a:lnTo>
                  <a:lnTo>
                    <a:pt x="20650" y="0"/>
                  </a:lnTo>
                  <a:lnTo>
                    <a:pt x="0" y="20637"/>
                  </a:lnTo>
                  <a:lnTo>
                    <a:pt x="0" y="26962"/>
                  </a:lnTo>
                  <a:lnTo>
                    <a:pt x="20650" y="47625"/>
                  </a:lnTo>
                  <a:lnTo>
                    <a:pt x="26962" y="47625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206875" y="2771648"/>
            <a:ext cx="2997200" cy="2405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635" b="1">
                <a:solidFill>
                  <a:srgbClr val="FFFFFF"/>
                </a:solidFill>
                <a:latin typeface="Trebuchet MS"/>
                <a:cs typeface="Trebuchet MS"/>
              </a:rPr>
              <a:t>Key</a:t>
            </a:r>
            <a:r>
              <a:rPr dirty="0" sz="1450" spc="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445" b="1">
                <a:solidFill>
                  <a:srgbClr val="FFFFFF"/>
                </a:solidFill>
                <a:latin typeface="Trebuchet MS"/>
                <a:cs typeface="Trebuchet MS"/>
              </a:rPr>
              <a:t>statistics</a:t>
            </a:r>
            <a:endParaRPr sz="1450">
              <a:latin typeface="Trebuchet MS"/>
              <a:cs typeface="Trebuchet MS"/>
            </a:endParaRPr>
          </a:p>
          <a:p>
            <a:pPr marL="252095" marR="5080">
              <a:lnSpc>
                <a:spcPct val="135900"/>
              </a:lnSpc>
              <a:spcBef>
                <a:spcPts val="615"/>
              </a:spcBef>
            </a:pP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Sexually</a:t>
            </a:r>
            <a:r>
              <a:rPr dirty="0" sz="115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explicit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115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ǐose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95">
                <a:solidFill>
                  <a:srgbClr val="FFFFFF"/>
                </a:solidFill>
                <a:latin typeface="Microsoft Sans Serif"/>
                <a:cs typeface="Microsoft Sans Serif"/>
              </a:rPr>
              <a:t>87%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fǐom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2022→2023.</a:t>
            </a:r>
            <a:endParaRPr sz="1150">
              <a:latin typeface="Microsoft Sans Serif"/>
              <a:cs typeface="Microsoft Sans Serif"/>
            </a:endParaRPr>
          </a:p>
          <a:p>
            <a:pPr marL="252095" marR="131445">
              <a:lnSpc>
                <a:spcPct val="135900"/>
              </a:lnSpc>
              <a:spcBef>
                <a:spcPts val="450"/>
              </a:spcBef>
            </a:pPr>
            <a:r>
              <a:rPr dirty="0" sz="1150" spc="-155">
                <a:solidFill>
                  <a:srgbClr val="FFFFFF"/>
                </a:solidFill>
                <a:latin typeface="Microsoft Sans Serif"/>
                <a:cs typeface="Microsoft Sans Serif"/>
              </a:rPr>
              <a:t>~99%</a:t>
            </a:r>
            <a:r>
              <a:rPr dirty="0" sz="11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dirty="0" sz="11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sexual</a:t>
            </a:r>
            <a:r>
              <a:rPr dirty="0" sz="11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FFFFFF"/>
                </a:solidFill>
                <a:latin typeface="Microsoft Sans Serif"/>
                <a:cs typeface="Microsoft Sans Serif"/>
              </a:rPr>
              <a:t>taǐget</a:t>
            </a:r>
            <a:r>
              <a:rPr dirty="0" sz="115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women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115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giǐls.</a:t>
            </a:r>
            <a:endParaRPr sz="1150">
              <a:latin typeface="Microsoft Sans Serif"/>
              <a:cs typeface="Microsoft Sans Serif"/>
            </a:endParaRPr>
          </a:p>
          <a:p>
            <a:pPr marL="252095" marR="72390">
              <a:lnSpc>
                <a:spcPct val="135900"/>
              </a:lnSpc>
              <a:spcBef>
                <a:spcPts val="450"/>
              </a:spcBef>
            </a:pPr>
            <a:r>
              <a:rPr dirty="0" sz="1150" spc="-125">
                <a:solidFill>
                  <a:srgbClr val="FFFFFF"/>
                </a:solidFill>
                <a:latin typeface="Microsoft Sans Serif"/>
                <a:cs typeface="Microsoft Sans Serif"/>
              </a:rPr>
              <a:t>15%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80">
                <a:solidFill>
                  <a:srgbClr val="FFFFFF"/>
                </a:solidFill>
                <a:latin typeface="Microsoft Sans Serif"/>
                <a:cs typeface="Microsoft Sans Serif"/>
              </a:rPr>
              <a:t>US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high-school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students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FFFFFF"/>
                </a:solidFill>
                <a:latin typeface="Microsoft Sans Serif"/>
                <a:cs typeface="Microsoft Sans Serif"/>
              </a:rPr>
              <a:t>awaǐe</a:t>
            </a:r>
            <a:r>
              <a:rPr dirty="0" sz="11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FFFFFF"/>
                </a:solidFill>
                <a:latin typeface="Microsoft Sans Serif"/>
                <a:cs typeface="Microsoft Sans Serif"/>
              </a:rPr>
              <a:t>of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school-connected</a:t>
            </a:r>
            <a:r>
              <a:rPr dirty="0" sz="1150" spc="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sexual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deepfake.</a:t>
            </a:r>
            <a:endParaRPr sz="1150">
              <a:latin typeface="Microsoft Sans Serif"/>
              <a:cs typeface="Microsoft Sans Serif"/>
            </a:endParaRPr>
          </a:p>
          <a:p>
            <a:pPr marL="252095" marR="287020">
              <a:lnSpc>
                <a:spcPct val="135900"/>
              </a:lnSpc>
              <a:spcBef>
                <a:spcPts val="450"/>
              </a:spcBef>
            </a:pP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Fine</a:t>
            </a:r>
            <a:r>
              <a:rPr dirty="0" sz="100">
                <a:solidFill>
                  <a:srgbClr val="FFFFFF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tuning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can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ǐequiǐe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as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few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as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FFFFFF"/>
                </a:solidFill>
                <a:latin typeface="Microsoft Sans Serif"/>
                <a:cs typeface="Microsoft Sans Serif"/>
              </a:rPr>
              <a:t>20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images,</a:t>
            </a:r>
            <a:r>
              <a:rPr dirty="0" sz="115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65">
                <a:solidFill>
                  <a:srgbClr val="FFFFFF"/>
                </a:solidFill>
                <a:latin typeface="Microsoft Sans Serif"/>
                <a:cs typeface="Microsoft Sans Serif"/>
              </a:rPr>
              <a:t>24</a:t>
            </a:r>
            <a:r>
              <a:rPr dirty="0" sz="115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50">
                <a:solidFill>
                  <a:srgbClr val="FFFFFF"/>
                </a:solidFill>
                <a:latin typeface="Microsoft Sans Serif"/>
                <a:cs typeface="Microsoft Sans Serif"/>
              </a:rPr>
              <a:t>GB</a:t>
            </a:r>
            <a:r>
              <a:rPr dirty="0" sz="1150" spc="-30">
                <a:solidFill>
                  <a:srgbClr val="FFFFFF"/>
                </a:solidFill>
                <a:latin typeface="Microsoft Sans Serif"/>
                <a:cs typeface="Microsoft Sans Serif"/>
              </a:rPr>
              <a:t> VRAM</a:t>
            </a:r>
            <a:r>
              <a:rPr dirty="0" sz="115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115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15">
                <a:solidFill>
                  <a:srgbClr val="FFFFFF"/>
                </a:solidFill>
                <a:latin typeface="Microsoft Sans Serif"/>
                <a:cs typeface="Microsoft Sans Serif"/>
              </a:rPr>
              <a:t>~15</a:t>
            </a:r>
            <a:r>
              <a:rPr dirty="0" sz="115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minutes.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524750" y="2638424"/>
            <a:ext cx="3305175" cy="2724150"/>
            <a:chOff x="7524750" y="2638424"/>
            <a:chExt cx="3305175" cy="2724150"/>
          </a:xfrm>
        </p:grpSpPr>
        <p:sp>
          <p:nvSpPr>
            <p:cNvPr id="15" name="object 15" descr=""/>
            <p:cNvSpPr/>
            <p:nvPr/>
          </p:nvSpPr>
          <p:spPr>
            <a:xfrm>
              <a:off x="7529512" y="2643187"/>
              <a:ext cx="3295650" cy="2714625"/>
            </a:xfrm>
            <a:custGeom>
              <a:avLst/>
              <a:gdLst/>
              <a:ahLst/>
              <a:cxnLst/>
              <a:rect l="l" t="t" r="r" b="b"/>
              <a:pathLst>
                <a:path w="3295650" h="2714625">
                  <a:moveTo>
                    <a:pt x="3254235" y="0"/>
                  </a:moveTo>
                  <a:lnTo>
                    <a:pt x="41414" y="0"/>
                  </a:lnTo>
                  <a:lnTo>
                    <a:pt x="35318" y="1206"/>
                  </a:lnTo>
                  <a:lnTo>
                    <a:pt x="1206" y="35318"/>
                  </a:lnTo>
                  <a:lnTo>
                    <a:pt x="0" y="41414"/>
                  </a:lnTo>
                  <a:lnTo>
                    <a:pt x="0" y="2666881"/>
                  </a:lnTo>
                  <a:lnTo>
                    <a:pt x="0" y="2673211"/>
                  </a:lnTo>
                  <a:lnTo>
                    <a:pt x="23622" y="2708568"/>
                  </a:lnTo>
                  <a:lnTo>
                    <a:pt x="41414" y="2714626"/>
                  </a:lnTo>
                  <a:lnTo>
                    <a:pt x="3254235" y="2714626"/>
                  </a:lnTo>
                  <a:lnTo>
                    <a:pt x="3289592" y="2691001"/>
                  </a:lnTo>
                  <a:lnTo>
                    <a:pt x="3295650" y="2673211"/>
                  </a:lnTo>
                  <a:lnTo>
                    <a:pt x="3295650" y="41414"/>
                  </a:lnTo>
                  <a:lnTo>
                    <a:pt x="3272028" y="6057"/>
                  </a:lnTo>
                  <a:lnTo>
                    <a:pt x="3260331" y="1206"/>
                  </a:lnTo>
                  <a:lnTo>
                    <a:pt x="3254235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529512" y="2643187"/>
              <a:ext cx="3295650" cy="2714625"/>
            </a:xfrm>
            <a:custGeom>
              <a:avLst/>
              <a:gdLst/>
              <a:ahLst/>
              <a:cxnLst/>
              <a:rect l="l" t="t" r="r" b="b"/>
              <a:pathLst>
                <a:path w="3295650" h="2714625">
                  <a:moveTo>
                    <a:pt x="0" y="2666881"/>
                  </a:moveTo>
                  <a:lnTo>
                    <a:pt x="0" y="47739"/>
                  </a:lnTo>
                  <a:lnTo>
                    <a:pt x="0" y="41414"/>
                  </a:lnTo>
                  <a:lnTo>
                    <a:pt x="1206" y="35318"/>
                  </a:lnTo>
                  <a:lnTo>
                    <a:pt x="3632" y="29476"/>
                  </a:lnTo>
                  <a:lnTo>
                    <a:pt x="6057" y="23622"/>
                  </a:lnTo>
                  <a:lnTo>
                    <a:pt x="9499" y="18465"/>
                  </a:lnTo>
                  <a:lnTo>
                    <a:pt x="13982" y="13982"/>
                  </a:lnTo>
                  <a:lnTo>
                    <a:pt x="18465" y="9512"/>
                  </a:lnTo>
                  <a:lnTo>
                    <a:pt x="23622" y="6057"/>
                  </a:lnTo>
                  <a:lnTo>
                    <a:pt x="29476" y="3632"/>
                  </a:lnTo>
                  <a:lnTo>
                    <a:pt x="35318" y="1206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3247910" y="0"/>
                  </a:lnTo>
                  <a:lnTo>
                    <a:pt x="3254235" y="0"/>
                  </a:lnTo>
                  <a:lnTo>
                    <a:pt x="3260331" y="1206"/>
                  </a:lnTo>
                  <a:lnTo>
                    <a:pt x="3266173" y="3632"/>
                  </a:lnTo>
                  <a:lnTo>
                    <a:pt x="3272028" y="6057"/>
                  </a:lnTo>
                  <a:lnTo>
                    <a:pt x="3292017" y="29476"/>
                  </a:lnTo>
                  <a:lnTo>
                    <a:pt x="3294443" y="35318"/>
                  </a:lnTo>
                  <a:lnTo>
                    <a:pt x="3295650" y="41414"/>
                  </a:lnTo>
                  <a:lnTo>
                    <a:pt x="3295650" y="47739"/>
                  </a:lnTo>
                  <a:lnTo>
                    <a:pt x="3295650" y="2666881"/>
                  </a:lnTo>
                  <a:lnTo>
                    <a:pt x="3295650" y="2673211"/>
                  </a:lnTo>
                  <a:lnTo>
                    <a:pt x="3294443" y="2679298"/>
                  </a:lnTo>
                  <a:lnTo>
                    <a:pt x="3266173" y="2710989"/>
                  </a:lnTo>
                  <a:lnTo>
                    <a:pt x="3260331" y="2713410"/>
                  </a:lnTo>
                  <a:lnTo>
                    <a:pt x="3254235" y="2714626"/>
                  </a:lnTo>
                  <a:lnTo>
                    <a:pt x="3247910" y="2714626"/>
                  </a:lnTo>
                  <a:lnTo>
                    <a:pt x="47739" y="2714626"/>
                  </a:lnTo>
                  <a:lnTo>
                    <a:pt x="41414" y="2714626"/>
                  </a:lnTo>
                  <a:lnTo>
                    <a:pt x="35318" y="2713410"/>
                  </a:lnTo>
                  <a:lnTo>
                    <a:pt x="29476" y="2710989"/>
                  </a:lnTo>
                  <a:lnTo>
                    <a:pt x="23622" y="2708568"/>
                  </a:lnTo>
                  <a:lnTo>
                    <a:pt x="0" y="2673211"/>
                  </a:lnTo>
                  <a:lnTo>
                    <a:pt x="0" y="2666881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666835" y="2771648"/>
            <a:ext cx="2966085" cy="17672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630" b="1">
                <a:solidFill>
                  <a:srgbClr val="FFFFFF"/>
                </a:solidFill>
                <a:latin typeface="Trebuchet MS"/>
                <a:cs typeface="Trebuchet MS"/>
              </a:rPr>
              <a:t>Research</a:t>
            </a:r>
            <a:r>
              <a:rPr dirty="0" sz="1450" spc="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690" b="1">
                <a:solidFill>
                  <a:srgbClr val="FFFFFF"/>
                </a:solidFill>
                <a:latin typeface="Trebuchet MS"/>
                <a:cs typeface="Trebuchet MS"/>
              </a:rPr>
              <a:t>gap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37700"/>
              </a:lnSpc>
              <a:spcBef>
                <a:spcPts val="590"/>
              </a:spcBef>
            </a:pP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Regulation</a:t>
            </a:r>
            <a:r>
              <a:rPr dirty="0" sz="11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115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takedowns</a:t>
            </a:r>
            <a:r>
              <a:rPr dirty="0" sz="115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focus</a:t>
            </a:r>
            <a:r>
              <a:rPr dirty="0" sz="11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FFFFFF"/>
                </a:solidFill>
                <a:latin typeface="Microsoft Sans Serif"/>
                <a:cs typeface="Microsoft Sans Serif"/>
              </a:rPr>
              <a:t>on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dissemination;</a:t>
            </a:r>
            <a:r>
              <a:rPr dirty="0" sz="1150" spc="70">
                <a:solidFill>
                  <a:srgbClr val="FFFFFF"/>
                </a:solidFill>
                <a:latin typeface="Microsoft Sans Serif"/>
                <a:cs typeface="Microsoft Sans Serif"/>
              </a:rPr>
              <a:t> faǐ</a:t>
            </a:r>
            <a:r>
              <a:rPr dirty="0" sz="11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FFFFFF"/>
                </a:solidFill>
                <a:latin typeface="Microsoft Sans Serif"/>
                <a:cs typeface="Microsoft Sans Serif"/>
              </a:rPr>
              <a:t>less</a:t>
            </a:r>
            <a:r>
              <a:rPr dirty="0" sz="11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empiǐical</a:t>
            </a:r>
            <a:r>
              <a:rPr dirty="0" sz="11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35">
                <a:solidFill>
                  <a:srgbClr val="FFFFFF"/>
                </a:solidFill>
                <a:latin typeface="Microsoft Sans Serif"/>
                <a:cs typeface="Microsoft Sans Serif"/>
              </a:rPr>
              <a:t>woǐk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examines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models,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hosting</a:t>
            </a:r>
            <a:r>
              <a:rPr dirty="0" sz="115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platfoǐms,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FFFFFF"/>
                </a:solidFill>
                <a:latin typeface="Microsoft Sans Serif"/>
                <a:cs typeface="Microsoft Sans Serif"/>
              </a:rPr>
              <a:t>and </a:t>
            </a:r>
            <a:r>
              <a:rPr dirty="0" sz="1150" spc="20">
                <a:solidFill>
                  <a:srgbClr val="FFFFFF"/>
                </a:solidFill>
                <a:latin typeface="Microsoft Sans Serif"/>
                <a:cs typeface="Microsoft Sans Serif"/>
              </a:rPr>
              <a:t>metadata</a:t>
            </a:r>
            <a:r>
              <a:rPr dirty="0" sz="1150" spc="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FFFFFF"/>
                </a:solidFill>
                <a:latin typeface="Microsoft Sans Serif"/>
                <a:cs typeface="Microsoft Sans Serif"/>
              </a:rPr>
              <a:t>that</a:t>
            </a:r>
            <a:r>
              <a:rPr dirty="0" sz="115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FFFFFF"/>
                </a:solidFill>
                <a:latin typeface="Microsoft Sans Serif"/>
                <a:cs typeface="Microsoft Sans Serif"/>
              </a:rPr>
              <a:t>enable</a:t>
            </a:r>
            <a:r>
              <a:rPr dirty="0" sz="1150" spc="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FFFFFF"/>
                </a:solidFill>
                <a:latin typeface="Microsoft Sans Serif"/>
                <a:cs typeface="Microsoft Sans Serif"/>
              </a:rPr>
              <a:t>laǐg</a:t>
            </a:r>
            <a:r>
              <a:rPr dirty="0" sz="1150" spc="15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dirty="0" sz="100" spc="20">
                <a:solidFill>
                  <a:srgbClr val="FFFFFF"/>
                </a:solidFill>
                <a:latin typeface="Ink Free"/>
                <a:cs typeface="Ink Free"/>
              </a:rPr>
              <a:t>-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scale</a:t>
            </a:r>
            <a:endParaRPr sz="1150">
              <a:latin typeface="Microsoft Sans Serif"/>
              <a:cs typeface="Microsoft Sans Serif"/>
            </a:endParaRPr>
          </a:p>
          <a:p>
            <a:pPr marL="12700" marR="126364">
              <a:lnSpc>
                <a:spcPct val="135900"/>
              </a:lnSpc>
            </a:pP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non</a:t>
            </a:r>
            <a:r>
              <a:rPr dirty="0" sz="100">
                <a:solidFill>
                  <a:srgbClr val="FFFFFF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consensual</a:t>
            </a:r>
            <a:r>
              <a:rPr dirty="0" sz="1150" spc="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cǐeation.</a:t>
            </a:r>
            <a:r>
              <a:rPr dirty="0" sz="115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50">
                <a:solidFill>
                  <a:srgbClr val="FFFFFF"/>
                </a:solidFill>
                <a:latin typeface="Microsoft Sans Serif"/>
                <a:cs typeface="Microsoft Sans Serif"/>
              </a:rPr>
              <a:t>This</a:t>
            </a:r>
            <a:r>
              <a:rPr dirty="0" sz="1150" spc="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papeǐ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empiǐically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investigates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FFFFFF"/>
                </a:solidFill>
                <a:latin typeface="Microsoft Sans Serif"/>
                <a:cs typeface="Microsoft Sans Serif"/>
              </a:rPr>
              <a:t>that</a:t>
            </a:r>
            <a:r>
              <a:rPr dirty="0" sz="11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FFFFFF"/>
                </a:solidFill>
                <a:latin typeface="Microsoft Sans Serif"/>
                <a:cs typeface="Microsoft Sans Serif"/>
              </a:rPr>
              <a:t>supply</a:t>
            </a:r>
            <a:r>
              <a:rPr dirty="0" sz="1150" spc="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Microsoft Sans Serif"/>
                <a:cs typeface="Microsoft Sans Serif"/>
              </a:rPr>
              <a:t>side.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18" name="object 18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8458200"/>
          </a:xfrm>
          <a:custGeom>
            <a:avLst/>
            <a:gdLst/>
            <a:ahLst/>
            <a:cxnLst/>
            <a:rect l="l" t="t" r="r" b="b"/>
            <a:pathLst>
              <a:path w="11430000" h="8458200">
                <a:moveTo>
                  <a:pt x="11430000" y="0"/>
                </a:moveTo>
                <a:lnTo>
                  <a:pt x="0" y="0"/>
                </a:lnTo>
                <a:lnTo>
                  <a:pt x="0" y="8458200"/>
                </a:lnTo>
                <a:lnTo>
                  <a:pt x="11430000" y="8458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382587"/>
            <a:ext cx="8791575" cy="756920"/>
          </a:xfrm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5"/>
              </a:spcBef>
            </a:pPr>
            <a:r>
              <a:rPr dirty="0" spc="810"/>
              <a:t>Three</a:t>
            </a:r>
            <a:r>
              <a:rPr dirty="0" sz="250" spc="810" b="0">
                <a:latin typeface="Ink Free"/>
                <a:cs typeface="Ink Free"/>
              </a:rPr>
              <a:t>-</a:t>
            </a:r>
            <a:r>
              <a:rPr dirty="0" spc="875"/>
              <a:t>Part</a:t>
            </a:r>
            <a:r>
              <a:rPr dirty="0" spc="45"/>
              <a:t> </a:t>
            </a:r>
            <a:r>
              <a:rPr dirty="0" spc="800"/>
              <a:t>Efipirical</a:t>
            </a:r>
            <a:r>
              <a:rPr dirty="0" spc="45"/>
              <a:t> </a:t>
            </a:r>
            <a:r>
              <a:rPr dirty="0" spc="990"/>
              <a:t>Study</a:t>
            </a:r>
            <a:r>
              <a:rPr dirty="0" spc="45"/>
              <a:t> </a:t>
            </a:r>
            <a:r>
              <a:rPr dirty="0" spc="480"/>
              <a:t>—</a:t>
            </a:r>
            <a:r>
              <a:rPr dirty="0" spc="45"/>
              <a:t> </a:t>
            </a:r>
            <a:r>
              <a:rPr dirty="0" spc="1125"/>
              <a:t>Method </a:t>
            </a:r>
            <a:r>
              <a:rPr dirty="0" spc="890"/>
              <a:t>Overview</a:t>
            </a:r>
            <a:endParaRPr sz="250">
              <a:latin typeface="Ink Free"/>
              <a:cs typeface="Ink Free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562100"/>
            <a:ext cx="4933949" cy="492442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5905500" y="2409825"/>
            <a:ext cx="152400" cy="1885950"/>
            <a:chOff x="5905500" y="2409825"/>
            <a:chExt cx="152400" cy="1885950"/>
          </a:xfrm>
        </p:grpSpPr>
        <p:sp>
          <p:nvSpPr>
            <p:cNvPr id="6" name="object 6" descr=""/>
            <p:cNvSpPr/>
            <p:nvPr/>
          </p:nvSpPr>
          <p:spPr>
            <a:xfrm>
              <a:off x="5910262" y="2414587"/>
              <a:ext cx="142875" cy="1876425"/>
            </a:xfrm>
            <a:custGeom>
              <a:avLst/>
              <a:gdLst/>
              <a:ahLst/>
              <a:cxnLst/>
              <a:rect l="l" t="t" r="r" b="b"/>
              <a:pathLst>
                <a:path w="142875" h="1876425">
                  <a:moveTo>
                    <a:pt x="101460" y="0"/>
                  </a:moveTo>
                  <a:lnTo>
                    <a:pt x="41414" y="0"/>
                  </a:lnTo>
                  <a:lnTo>
                    <a:pt x="35318" y="1206"/>
                  </a:lnTo>
                  <a:lnTo>
                    <a:pt x="1206" y="35318"/>
                  </a:lnTo>
                  <a:lnTo>
                    <a:pt x="0" y="41414"/>
                  </a:lnTo>
                  <a:lnTo>
                    <a:pt x="0" y="1828685"/>
                  </a:lnTo>
                  <a:lnTo>
                    <a:pt x="0" y="1835010"/>
                  </a:lnTo>
                  <a:lnTo>
                    <a:pt x="23622" y="1870367"/>
                  </a:lnTo>
                  <a:lnTo>
                    <a:pt x="41414" y="1876425"/>
                  </a:lnTo>
                  <a:lnTo>
                    <a:pt x="101460" y="1876425"/>
                  </a:lnTo>
                  <a:lnTo>
                    <a:pt x="136817" y="1852803"/>
                  </a:lnTo>
                  <a:lnTo>
                    <a:pt x="142875" y="1835010"/>
                  </a:lnTo>
                  <a:lnTo>
                    <a:pt x="142875" y="41414"/>
                  </a:lnTo>
                  <a:lnTo>
                    <a:pt x="119253" y="6057"/>
                  </a:lnTo>
                  <a:lnTo>
                    <a:pt x="107556" y="1206"/>
                  </a:lnTo>
                  <a:lnTo>
                    <a:pt x="10146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910262" y="2414587"/>
              <a:ext cx="142875" cy="1876425"/>
            </a:xfrm>
            <a:custGeom>
              <a:avLst/>
              <a:gdLst/>
              <a:ahLst/>
              <a:cxnLst/>
              <a:rect l="l" t="t" r="r" b="b"/>
              <a:pathLst>
                <a:path w="142875" h="1876425">
                  <a:moveTo>
                    <a:pt x="0" y="1828685"/>
                  </a:moveTo>
                  <a:lnTo>
                    <a:pt x="0" y="47739"/>
                  </a:lnTo>
                  <a:lnTo>
                    <a:pt x="0" y="41414"/>
                  </a:lnTo>
                  <a:lnTo>
                    <a:pt x="1206" y="35318"/>
                  </a:lnTo>
                  <a:lnTo>
                    <a:pt x="3632" y="29476"/>
                  </a:lnTo>
                  <a:lnTo>
                    <a:pt x="6057" y="23622"/>
                  </a:lnTo>
                  <a:lnTo>
                    <a:pt x="9499" y="18465"/>
                  </a:lnTo>
                  <a:lnTo>
                    <a:pt x="13982" y="13982"/>
                  </a:lnTo>
                  <a:lnTo>
                    <a:pt x="18465" y="9499"/>
                  </a:lnTo>
                  <a:lnTo>
                    <a:pt x="23622" y="6057"/>
                  </a:lnTo>
                  <a:lnTo>
                    <a:pt x="29476" y="3632"/>
                  </a:lnTo>
                  <a:lnTo>
                    <a:pt x="35318" y="1206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95135" y="0"/>
                  </a:lnTo>
                  <a:lnTo>
                    <a:pt x="101460" y="0"/>
                  </a:lnTo>
                  <a:lnTo>
                    <a:pt x="107556" y="1206"/>
                  </a:lnTo>
                  <a:lnTo>
                    <a:pt x="113398" y="3632"/>
                  </a:lnTo>
                  <a:lnTo>
                    <a:pt x="119253" y="6057"/>
                  </a:lnTo>
                  <a:lnTo>
                    <a:pt x="124409" y="9499"/>
                  </a:lnTo>
                  <a:lnTo>
                    <a:pt x="128892" y="13982"/>
                  </a:lnTo>
                  <a:lnTo>
                    <a:pt x="133375" y="18465"/>
                  </a:lnTo>
                  <a:lnTo>
                    <a:pt x="136817" y="23622"/>
                  </a:lnTo>
                  <a:lnTo>
                    <a:pt x="139242" y="29476"/>
                  </a:lnTo>
                  <a:lnTo>
                    <a:pt x="141668" y="35318"/>
                  </a:lnTo>
                  <a:lnTo>
                    <a:pt x="142875" y="41414"/>
                  </a:lnTo>
                  <a:lnTo>
                    <a:pt x="142875" y="47739"/>
                  </a:lnTo>
                  <a:lnTo>
                    <a:pt x="142875" y="1828685"/>
                  </a:lnTo>
                  <a:lnTo>
                    <a:pt x="142875" y="1835010"/>
                  </a:lnTo>
                  <a:lnTo>
                    <a:pt x="141668" y="1841106"/>
                  </a:lnTo>
                  <a:lnTo>
                    <a:pt x="139242" y="1846948"/>
                  </a:lnTo>
                  <a:lnTo>
                    <a:pt x="136817" y="1852803"/>
                  </a:lnTo>
                  <a:lnTo>
                    <a:pt x="133375" y="1857959"/>
                  </a:lnTo>
                  <a:lnTo>
                    <a:pt x="128892" y="1862442"/>
                  </a:lnTo>
                  <a:lnTo>
                    <a:pt x="124409" y="1866912"/>
                  </a:lnTo>
                  <a:lnTo>
                    <a:pt x="119253" y="1870367"/>
                  </a:lnTo>
                  <a:lnTo>
                    <a:pt x="113398" y="1872792"/>
                  </a:lnTo>
                  <a:lnTo>
                    <a:pt x="107556" y="1875218"/>
                  </a:lnTo>
                  <a:lnTo>
                    <a:pt x="101460" y="1876425"/>
                  </a:lnTo>
                  <a:lnTo>
                    <a:pt x="95135" y="1876425"/>
                  </a:lnTo>
                  <a:lnTo>
                    <a:pt x="47739" y="1876425"/>
                  </a:lnTo>
                  <a:lnTo>
                    <a:pt x="41414" y="1876425"/>
                  </a:lnTo>
                  <a:lnTo>
                    <a:pt x="35318" y="1875218"/>
                  </a:lnTo>
                  <a:lnTo>
                    <a:pt x="29476" y="1872792"/>
                  </a:lnTo>
                  <a:lnTo>
                    <a:pt x="23622" y="1870367"/>
                  </a:lnTo>
                  <a:lnTo>
                    <a:pt x="18465" y="1866925"/>
                  </a:lnTo>
                  <a:lnTo>
                    <a:pt x="13982" y="1862442"/>
                  </a:lnTo>
                  <a:lnTo>
                    <a:pt x="9499" y="1857959"/>
                  </a:lnTo>
                  <a:lnTo>
                    <a:pt x="6057" y="1852803"/>
                  </a:lnTo>
                  <a:lnTo>
                    <a:pt x="3632" y="1846948"/>
                  </a:lnTo>
                  <a:lnTo>
                    <a:pt x="1206" y="1841106"/>
                  </a:lnTo>
                  <a:lnTo>
                    <a:pt x="0" y="1835010"/>
                  </a:lnTo>
                  <a:lnTo>
                    <a:pt x="0" y="1828685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134100" y="4438650"/>
            <a:ext cx="152400" cy="1647825"/>
            <a:chOff x="6134100" y="4438650"/>
            <a:chExt cx="152400" cy="1647825"/>
          </a:xfrm>
        </p:grpSpPr>
        <p:sp>
          <p:nvSpPr>
            <p:cNvPr id="9" name="object 9" descr=""/>
            <p:cNvSpPr/>
            <p:nvPr/>
          </p:nvSpPr>
          <p:spPr>
            <a:xfrm>
              <a:off x="6138862" y="4443412"/>
              <a:ext cx="142875" cy="1638300"/>
            </a:xfrm>
            <a:custGeom>
              <a:avLst/>
              <a:gdLst/>
              <a:ahLst/>
              <a:cxnLst/>
              <a:rect l="l" t="t" r="r" b="b"/>
              <a:pathLst>
                <a:path w="142875" h="1638300">
                  <a:moveTo>
                    <a:pt x="101460" y="0"/>
                  </a:moveTo>
                  <a:lnTo>
                    <a:pt x="41414" y="0"/>
                  </a:lnTo>
                  <a:lnTo>
                    <a:pt x="35318" y="1206"/>
                  </a:lnTo>
                  <a:lnTo>
                    <a:pt x="1206" y="35318"/>
                  </a:lnTo>
                  <a:lnTo>
                    <a:pt x="0" y="41414"/>
                  </a:lnTo>
                  <a:lnTo>
                    <a:pt x="0" y="1590560"/>
                  </a:lnTo>
                  <a:lnTo>
                    <a:pt x="0" y="1596885"/>
                  </a:lnTo>
                  <a:lnTo>
                    <a:pt x="23622" y="1632242"/>
                  </a:lnTo>
                  <a:lnTo>
                    <a:pt x="41414" y="1638300"/>
                  </a:lnTo>
                  <a:lnTo>
                    <a:pt x="101460" y="1638300"/>
                  </a:lnTo>
                  <a:lnTo>
                    <a:pt x="136817" y="1614678"/>
                  </a:lnTo>
                  <a:lnTo>
                    <a:pt x="142875" y="1596885"/>
                  </a:lnTo>
                  <a:lnTo>
                    <a:pt x="142875" y="41414"/>
                  </a:lnTo>
                  <a:lnTo>
                    <a:pt x="119253" y="6057"/>
                  </a:lnTo>
                  <a:lnTo>
                    <a:pt x="107556" y="1206"/>
                  </a:lnTo>
                  <a:lnTo>
                    <a:pt x="10146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138862" y="4443412"/>
              <a:ext cx="142875" cy="1638300"/>
            </a:xfrm>
            <a:custGeom>
              <a:avLst/>
              <a:gdLst/>
              <a:ahLst/>
              <a:cxnLst/>
              <a:rect l="l" t="t" r="r" b="b"/>
              <a:pathLst>
                <a:path w="142875" h="1638300">
                  <a:moveTo>
                    <a:pt x="0" y="1590560"/>
                  </a:moveTo>
                  <a:lnTo>
                    <a:pt x="0" y="47739"/>
                  </a:lnTo>
                  <a:lnTo>
                    <a:pt x="0" y="41414"/>
                  </a:lnTo>
                  <a:lnTo>
                    <a:pt x="1206" y="35318"/>
                  </a:lnTo>
                  <a:lnTo>
                    <a:pt x="3632" y="29476"/>
                  </a:lnTo>
                  <a:lnTo>
                    <a:pt x="6057" y="23622"/>
                  </a:lnTo>
                  <a:lnTo>
                    <a:pt x="9499" y="18465"/>
                  </a:lnTo>
                  <a:lnTo>
                    <a:pt x="13982" y="13982"/>
                  </a:lnTo>
                  <a:lnTo>
                    <a:pt x="18465" y="9499"/>
                  </a:lnTo>
                  <a:lnTo>
                    <a:pt x="23622" y="6057"/>
                  </a:lnTo>
                  <a:lnTo>
                    <a:pt x="29476" y="3632"/>
                  </a:lnTo>
                  <a:lnTo>
                    <a:pt x="35318" y="1206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95135" y="0"/>
                  </a:lnTo>
                  <a:lnTo>
                    <a:pt x="101460" y="0"/>
                  </a:lnTo>
                  <a:lnTo>
                    <a:pt x="107556" y="1206"/>
                  </a:lnTo>
                  <a:lnTo>
                    <a:pt x="113398" y="3632"/>
                  </a:lnTo>
                  <a:lnTo>
                    <a:pt x="119253" y="6057"/>
                  </a:lnTo>
                  <a:lnTo>
                    <a:pt x="124409" y="9499"/>
                  </a:lnTo>
                  <a:lnTo>
                    <a:pt x="128892" y="13982"/>
                  </a:lnTo>
                  <a:lnTo>
                    <a:pt x="133362" y="18465"/>
                  </a:lnTo>
                  <a:lnTo>
                    <a:pt x="136817" y="23622"/>
                  </a:lnTo>
                  <a:lnTo>
                    <a:pt x="139242" y="29476"/>
                  </a:lnTo>
                  <a:lnTo>
                    <a:pt x="141668" y="35318"/>
                  </a:lnTo>
                  <a:lnTo>
                    <a:pt x="142875" y="41414"/>
                  </a:lnTo>
                  <a:lnTo>
                    <a:pt x="142875" y="47739"/>
                  </a:lnTo>
                  <a:lnTo>
                    <a:pt x="142875" y="1590560"/>
                  </a:lnTo>
                  <a:lnTo>
                    <a:pt x="142875" y="1596885"/>
                  </a:lnTo>
                  <a:lnTo>
                    <a:pt x="141668" y="1602981"/>
                  </a:lnTo>
                  <a:lnTo>
                    <a:pt x="139242" y="1608823"/>
                  </a:lnTo>
                  <a:lnTo>
                    <a:pt x="136817" y="1614678"/>
                  </a:lnTo>
                  <a:lnTo>
                    <a:pt x="101460" y="1638300"/>
                  </a:lnTo>
                  <a:lnTo>
                    <a:pt x="95135" y="1638300"/>
                  </a:lnTo>
                  <a:lnTo>
                    <a:pt x="47739" y="1638300"/>
                  </a:lnTo>
                  <a:lnTo>
                    <a:pt x="41414" y="1638300"/>
                  </a:lnTo>
                  <a:lnTo>
                    <a:pt x="35318" y="1637080"/>
                  </a:lnTo>
                  <a:lnTo>
                    <a:pt x="3632" y="1608823"/>
                  </a:lnTo>
                  <a:lnTo>
                    <a:pt x="1206" y="1602981"/>
                  </a:lnTo>
                  <a:lnTo>
                    <a:pt x="0" y="1596885"/>
                  </a:lnTo>
                  <a:lnTo>
                    <a:pt x="0" y="1590560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6353175" y="6238875"/>
            <a:ext cx="152400" cy="1638300"/>
            <a:chOff x="6353175" y="6238875"/>
            <a:chExt cx="152400" cy="1638300"/>
          </a:xfrm>
        </p:grpSpPr>
        <p:sp>
          <p:nvSpPr>
            <p:cNvPr id="12" name="object 12" descr=""/>
            <p:cNvSpPr/>
            <p:nvPr/>
          </p:nvSpPr>
          <p:spPr>
            <a:xfrm>
              <a:off x="6357937" y="6243637"/>
              <a:ext cx="142875" cy="1628775"/>
            </a:xfrm>
            <a:custGeom>
              <a:avLst/>
              <a:gdLst/>
              <a:ahLst/>
              <a:cxnLst/>
              <a:rect l="l" t="t" r="r" b="b"/>
              <a:pathLst>
                <a:path w="142875" h="1628775">
                  <a:moveTo>
                    <a:pt x="101460" y="0"/>
                  </a:moveTo>
                  <a:lnTo>
                    <a:pt x="41414" y="0"/>
                  </a:lnTo>
                  <a:lnTo>
                    <a:pt x="35318" y="1206"/>
                  </a:lnTo>
                  <a:lnTo>
                    <a:pt x="1206" y="35318"/>
                  </a:lnTo>
                  <a:lnTo>
                    <a:pt x="0" y="41414"/>
                  </a:lnTo>
                  <a:lnTo>
                    <a:pt x="0" y="1581030"/>
                  </a:lnTo>
                  <a:lnTo>
                    <a:pt x="0" y="1587361"/>
                  </a:lnTo>
                  <a:lnTo>
                    <a:pt x="23622" y="1622717"/>
                  </a:lnTo>
                  <a:lnTo>
                    <a:pt x="41414" y="1628775"/>
                  </a:lnTo>
                  <a:lnTo>
                    <a:pt x="101460" y="1628775"/>
                  </a:lnTo>
                  <a:lnTo>
                    <a:pt x="136817" y="1605150"/>
                  </a:lnTo>
                  <a:lnTo>
                    <a:pt x="142875" y="1587361"/>
                  </a:lnTo>
                  <a:lnTo>
                    <a:pt x="142875" y="41414"/>
                  </a:lnTo>
                  <a:lnTo>
                    <a:pt x="119253" y="6057"/>
                  </a:lnTo>
                  <a:lnTo>
                    <a:pt x="107556" y="1206"/>
                  </a:lnTo>
                  <a:lnTo>
                    <a:pt x="101460" y="0"/>
                  </a:lnTo>
                  <a:close/>
                </a:path>
              </a:pathLst>
            </a:custGeom>
            <a:solidFill>
              <a:srgbClr val="5378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357937" y="6243637"/>
              <a:ext cx="142875" cy="1628775"/>
            </a:xfrm>
            <a:custGeom>
              <a:avLst/>
              <a:gdLst/>
              <a:ahLst/>
              <a:cxnLst/>
              <a:rect l="l" t="t" r="r" b="b"/>
              <a:pathLst>
                <a:path w="142875" h="1628775">
                  <a:moveTo>
                    <a:pt x="0" y="1581030"/>
                  </a:moveTo>
                  <a:lnTo>
                    <a:pt x="0" y="47739"/>
                  </a:lnTo>
                  <a:lnTo>
                    <a:pt x="0" y="41414"/>
                  </a:lnTo>
                  <a:lnTo>
                    <a:pt x="1206" y="35318"/>
                  </a:lnTo>
                  <a:lnTo>
                    <a:pt x="3632" y="29476"/>
                  </a:lnTo>
                  <a:lnTo>
                    <a:pt x="6057" y="23622"/>
                  </a:lnTo>
                  <a:lnTo>
                    <a:pt x="9499" y="18465"/>
                  </a:lnTo>
                  <a:lnTo>
                    <a:pt x="13982" y="13982"/>
                  </a:lnTo>
                  <a:lnTo>
                    <a:pt x="18465" y="9499"/>
                  </a:lnTo>
                  <a:lnTo>
                    <a:pt x="23622" y="6057"/>
                  </a:lnTo>
                  <a:lnTo>
                    <a:pt x="29476" y="3632"/>
                  </a:lnTo>
                  <a:lnTo>
                    <a:pt x="35318" y="1206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95135" y="0"/>
                  </a:lnTo>
                  <a:lnTo>
                    <a:pt x="101460" y="0"/>
                  </a:lnTo>
                  <a:lnTo>
                    <a:pt x="107556" y="1206"/>
                  </a:lnTo>
                  <a:lnTo>
                    <a:pt x="113398" y="3632"/>
                  </a:lnTo>
                  <a:lnTo>
                    <a:pt x="119253" y="6057"/>
                  </a:lnTo>
                  <a:lnTo>
                    <a:pt x="124409" y="9499"/>
                  </a:lnTo>
                  <a:lnTo>
                    <a:pt x="128892" y="13982"/>
                  </a:lnTo>
                  <a:lnTo>
                    <a:pt x="133362" y="18465"/>
                  </a:lnTo>
                  <a:lnTo>
                    <a:pt x="136817" y="23622"/>
                  </a:lnTo>
                  <a:lnTo>
                    <a:pt x="139242" y="29476"/>
                  </a:lnTo>
                  <a:lnTo>
                    <a:pt x="141668" y="35318"/>
                  </a:lnTo>
                  <a:lnTo>
                    <a:pt x="142875" y="41414"/>
                  </a:lnTo>
                  <a:lnTo>
                    <a:pt x="142875" y="47739"/>
                  </a:lnTo>
                  <a:lnTo>
                    <a:pt x="142875" y="1581030"/>
                  </a:lnTo>
                  <a:lnTo>
                    <a:pt x="142875" y="1587361"/>
                  </a:lnTo>
                  <a:lnTo>
                    <a:pt x="141668" y="1593452"/>
                  </a:lnTo>
                  <a:lnTo>
                    <a:pt x="113398" y="1625139"/>
                  </a:lnTo>
                  <a:lnTo>
                    <a:pt x="107556" y="1627564"/>
                  </a:lnTo>
                  <a:lnTo>
                    <a:pt x="101460" y="1628775"/>
                  </a:lnTo>
                  <a:lnTo>
                    <a:pt x="95135" y="1628775"/>
                  </a:lnTo>
                  <a:lnTo>
                    <a:pt x="47739" y="1628775"/>
                  </a:lnTo>
                  <a:lnTo>
                    <a:pt x="41414" y="1628775"/>
                  </a:lnTo>
                  <a:lnTo>
                    <a:pt x="35318" y="1627564"/>
                  </a:lnTo>
                  <a:lnTo>
                    <a:pt x="29476" y="1625139"/>
                  </a:lnTo>
                  <a:lnTo>
                    <a:pt x="23622" y="1622717"/>
                  </a:lnTo>
                  <a:lnTo>
                    <a:pt x="0" y="1587361"/>
                  </a:lnTo>
                  <a:lnTo>
                    <a:pt x="0" y="1581030"/>
                  </a:lnTo>
                  <a:close/>
                </a:path>
              </a:pathLst>
            </a:custGeom>
            <a:ln w="9525">
              <a:solidFill>
                <a:srgbClr val="6D9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894730" y="1474628"/>
            <a:ext cx="4921250" cy="62261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125095">
              <a:lnSpc>
                <a:spcPct val="135900"/>
              </a:lnSpc>
              <a:spcBef>
                <a:spcPts val="90"/>
              </a:spcBef>
            </a:pPr>
            <a:r>
              <a:rPr dirty="0" sz="1150" spc="-120">
                <a:solidFill>
                  <a:srgbClr val="D7E5D8"/>
                </a:solidFill>
                <a:latin typeface="Microsoft Sans Serif"/>
                <a:cs typeface="Microsoft Sans Serif"/>
              </a:rPr>
              <a:t>Hhe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aulhoǐs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desiσked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pǐikcipled,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elhicallQ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caulious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sludQ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composed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or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lhǐee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paǐls.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No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deeprake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imaσes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weǐe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σekeǐaled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lhis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70">
                <a:solidFill>
                  <a:srgbClr val="D7E5D8"/>
                </a:solidFill>
                <a:latin typeface="Microsoft Sans Serif"/>
                <a:cs typeface="Microsoft Sans Serif"/>
              </a:rPr>
              <a:t>sludQ.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20">
                <a:solidFill>
                  <a:srgbClr val="D7E5D8"/>
                </a:solidFill>
                <a:latin typeface="Microsoft Sans Serif"/>
                <a:cs typeface="Microsoft Sans Serif"/>
              </a:rPr>
              <a:t>Hhe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rocus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was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ok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meladala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aǐliracls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hosled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ok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public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ǐeposiloǐies.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312420" marR="791210">
              <a:lnSpc>
                <a:spcPct val="107800"/>
              </a:lnSpc>
              <a:spcBef>
                <a:spcPts val="5"/>
              </a:spcBef>
            </a:pPr>
            <a:r>
              <a:rPr dirty="0" sz="1450" spc="550" b="1">
                <a:solidFill>
                  <a:srgbClr val="D7E5D8"/>
                </a:solidFill>
                <a:latin typeface="Trebuchet MS"/>
                <a:cs typeface="Trebuchet MS"/>
              </a:rPr>
              <a:t>Part</a:t>
            </a:r>
            <a:r>
              <a:rPr dirty="0" sz="1450" spc="2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790" b="1">
                <a:solidFill>
                  <a:srgbClr val="D7E5D8"/>
                </a:solidFill>
                <a:latin typeface="Trebuchet MS"/>
                <a:cs typeface="Trebuchet MS"/>
              </a:rPr>
              <a:t>A</a:t>
            </a:r>
            <a:r>
              <a:rPr dirty="0" sz="1450" spc="2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315" b="1">
                <a:solidFill>
                  <a:srgbClr val="D7E5D8"/>
                </a:solidFill>
                <a:latin typeface="Trebuchet MS"/>
                <a:cs typeface="Trebuchet MS"/>
              </a:rPr>
              <a:t>—</a:t>
            </a:r>
            <a:r>
              <a:rPr dirty="0" sz="1450" spc="2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509" b="1">
                <a:solidFill>
                  <a:srgbClr val="D7E5D8"/>
                </a:solidFill>
                <a:latin typeface="Trebuchet MS"/>
                <a:cs typeface="Trebuchet MS"/>
              </a:rPr>
              <a:t>PlatĒorfi</a:t>
            </a:r>
            <a:r>
              <a:rPr dirty="0" sz="1450" spc="2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505" b="1">
                <a:solidFill>
                  <a:srgbClr val="D7E5D8"/>
                </a:solidFill>
                <a:latin typeface="Trebuchet MS"/>
                <a:cs typeface="Trebuchet MS"/>
              </a:rPr>
              <a:t>analysis </a:t>
            </a:r>
            <a:r>
              <a:rPr dirty="0" sz="1450" spc="335" b="1">
                <a:solidFill>
                  <a:srgbClr val="D7E5D8"/>
                </a:solidFill>
                <a:latin typeface="Trebuchet MS"/>
                <a:cs typeface="Trebuchet MS"/>
              </a:rPr>
              <a:t>(Civitai)</a:t>
            </a:r>
            <a:endParaRPr sz="1450">
              <a:latin typeface="Trebuchet MS"/>
              <a:cs typeface="Trebuchet MS"/>
            </a:endParaRPr>
          </a:p>
          <a:p>
            <a:pPr marL="312420" marR="332740">
              <a:lnSpc>
                <a:spcPct val="137700"/>
              </a:lnSpc>
              <a:spcBef>
                <a:spcPts val="1040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Collecled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all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vaǐiakls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laσσed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"CelebǐilQ"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via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lhe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Civilai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6PI; </a:t>
            </a:r>
            <a:r>
              <a:rPr dirty="0" sz="1150" spc="-30">
                <a:solidFill>
                  <a:srgbClr val="D7E5D8"/>
                </a:solidFill>
                <a:latin typeface="Microsoft Sans Serif"/>
                <a:cs typeface="Microsoft Sans Serif"/>
              </a:rPr>
              <a:t>akalQsed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laσs,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dowkloads,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upload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cadekce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useǐ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behaviouǐ.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Idekliried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"ǐed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rlaσ"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meladala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ikdicaloǐs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siσkallikσ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likelQ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e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xual/kok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cokseksual</a:t>
            </a:r>
            <a:r>
              <a:rPr dirty="0" sz="1150" spc="110">
                <a:solidFill>
                  <a:srgbClr val="D7E5D8"/>
                </a:solidFill>
                <a:latin typeface="Microsoft Sans Serif"/>
                <a:cs typeface="Microsoft Sans Serif"/>
              </a:rPr>
              <a:t>  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iklekl.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537210">
              <a:lnSpc>
                <a:spcPct val="100000"/>
              </a:lnSpc>
            </a:pPr>
            <a:r>
              <a:rPr dirty="0" sz="1450" spc="550" b="1">
                <a:solidFill>
                  <a:srgbClr val="D7E5D8"/>
                </a:solidFill>
                <a:latin typeface="Trebuchet MS"/>
                <a:cs typeface="Trebuchet MS"/>
              </a:rPr>
              <a:t>Part</a:t>
            </a:r>
            <a:r>
              <a:rPr dirty="0" sz="1450" spc="2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815" b="1">
                <a:solidFill>
                  <a:srgbClr val="D7E5D8"/>
                </a:solidFill>
                <a:latin typeface="Trebuchet MS"/>
                <a:cs typeface="Trebuchet MS"/>
              </a:rPr>
              <a:t>B</a:t>
            </a:r>
            <a:r>
              <a:rPr dirty="0" sz="1450" spc="2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315" b="1">
                <a:solidFill>
                  <a:srgbClr val="D7E5D8"/>
                </a:solidFill>
                <a:latin typeface="Trebuchet MS"/>
                <a:cs typeface="Trebuchet MS"/>
              </a:rPr>
              <a:t>—</a:t>
            </a:r>
            <a:r>
              <a:rPr dirty="0" sz="1450" spc="3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680" b="1">
                <a:solidFill>
                  <a:srgbClr val="D7E5D8"/>
                </a:solidFill>
                <a:latin typeface="Trebuchet MS"/>
                <a:cs typeface="Trebuchet MS"/>
              </a:rPr>
              <a:t>Model</a:t>
            </a:r>
            <a:r>
              <a:rPr dirty="0" sz="1450" spc="2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505" b="1">
                <a:solidFill>
                  <a:srgbClr val="D7E5D8"/>
                </a:solidFill>
                <a:latin typeface="Trebuchet MS"/>
                <a:cs typeface="Trebuchet MS"/>
              </a:rPr>
              <a:t>analysis</a:t>
            </a:r>
            <a:endParaRPr sz="1450">
              <a:latin typeface="Trebuchet MS"/>
              <a:cs typeface="Trebuchet MS"/>
            </a:endParaRPr>
          </a:p>
          <a:p>
            <a:pPr marL="537210" marR="5080">
              <a:lnSpc>
                <a:spcPct val="137700"/>
              </a:lnSpc>
              <a:spcBef>
                <a:spcPts val="1040"/>
              </a:spcBef>
            </a:pP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Cuǐaled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a rilleǐed 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dalasel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or ıy,3į9 model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vaǐiakls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rǐom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Civilai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akd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Huσσikσ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Face.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Makual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labellikσ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classiried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vaǐiakls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as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deeprake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(idekliriable</a:t>
            </a:r>
            <a:r>
              <a:rPr dirty="0" sz="1150" spc="1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laǐσel),</a:t>
            </a:r>
            <a:r>
              <a:rPr dirty="0" sz="1150" spc="11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sexual,</a:t>
            </a:r>
            <a:r>
              <a:rPr dirty="0" sz="1150" spc="11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oǐ</a:t>
            </a:r>
            <a:r>
              <a:rPr dirty="0" sz="1150" spc="11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keilheǐ;</a:t>
            </a:r>
            <a:r>
              <a:rPr dirty="0" sz="1150" spc="11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ǐecoǐded</a:t>
            </a:r>
            <a:r>
              <a:rPr dirty="0" sz="1150" spc="11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peǐceived</a:t>
            </a:r>
            <a:r>
              <a:rPr dirty="0" sz="1150" spc="11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σekdeǐ</a:t>
            </a:r>
            <a:r>
              <a:rPr dirty="0" sz="1150" spc="5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or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laǐσels.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762635" marR="1718310">
              <a:lnSpc>
                <a:spcPct val="107800"/>
              </a:lnSpc>
            </a:pPr>
            <a:r>
              <a:rPr dirty="0" sz="1450" spc="550" b="1">
                <a:solidFill>
                  <a:srgbClr val="D7E5D8"/>
                </a:solidFill>
                <a:latin typeface="Trebuchet MS"/>
                <a:cs typeface="Trebuchet MS"/>
              </a:rPr>
              <a:t>Part</a:t>
            </a:r>
            <a:r>
              <a:rPr dirty="0" sz="1450" spc="2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1045" b="1">
                <a:solidFill>
                  <a:srgbClr val="D7E5D8"/>
                </a:solidFill>
                <a:latin typeface="Trebuchet MS"/>
                <a:cs typeface="Trebuchet MS"/>
              </a:rPr>
              <a:t>C</a:t>
            </a:r>
            <a:r>
              <a:rPr dirty="0" sz="1450" spc="2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315" b="1">
                <a:solidFill>
                  <a:srgbClr val="D7E5D8"/>
                </a:solidFill>
                <a:latin typeface="Trebuchet MS"/>
                <a:cs typeface="Trebuchet MS"/>
              </a:rPr>
              <a:t>—</a:t>
            </a:r>
            <a:r>
              <a:rPr dirty="0" sz="1450" spc="2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505" b="1">
                <a:solidFill>
                  <a:srgbClr val="D7E5D8"/>
                </a:solidFill>
                <a:latin typeface="Trebuchet MS"/>
                <a:cs typeface="Trebuchet MS"/>
              </a:rPr>
              <a:t>Policy</a:t>
            </a:r>
            <a:r>
              <a:rPr dirty="0" sz="1450" spc="2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715" b="1">
                <a:solidFill>
                  <a:srgbClr val="D7E5D8"/>
                </a:solidFill>
                <a:latin typeface="Trebuchet MS"/>
                <a:cs typeface="Trebuchet MS"/>
              </a:rPr>
              <a:t>&amp; </a:t>
            </a:r>
            <a:r>
              <a:rPr dirty="0" sz="1450" spc="459" b="1">
                <a:solidFill>
                  <a:srgbClr val="D7E5D8"/>
                </a:solidFill>
                <a:latin typeface="Trebuchet MS"/>
                <a:cs typeface="Trebuchet MS"/>
              </a:rPr>
              <a:t>accessibility</a:t>
            </a:r>
            <a:endParaRPr sz="1450">
              <a:latin typeface="Trebuchet MS"/>
              <a:cs typeface="Trebuchet MS"/>
            </a:endParaRPr>
          </a:p>
          <a:p>
            <a:pPr marL="762635" marR="106045">
              <a:lnSpc>
                <a:spcPct val="138600"/>
              </a:lnSpc>
              <a:spcBef>
                <a:spcPts val="1030"/>
              </a:spcBef>
            </a:pP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Reviewed</a:t>
            </a:r>
            <a:r>
              <a:rPr dirty="0" sz="1150" spc="-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0">
                <a:solidFill>
                  <a:srgbClr val="D7E5D8"/>
                </a:solidFill>
                <a:latin typeface="Microsoft Sans Serif"/>
                <a:cs typeface="Microsoft Sans Serif"/>
              </a:rPr>
              <a:t>Heǐms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or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Seǐvice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plalroǐm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policies,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assessed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ekroǐcemekl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pǐaclices,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evalualed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how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95">
                <a:solidFill>
                  <a:srgbClr val="D7E5D8"/>
                </a:solidFill>
                <a:latin typeface="Microsoft Sans Serif"/>
                <a:cs typeface="Microsoft Sans Serif"/>
              </a:rPr>
              <a:t>easQ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il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0">
                <a:solidFill>
                  <a:srgbClr val="D7E5D8"/>
                </a:solidFill>
                <a:latin typeface="Microsoft Sans Serif"/>
                <a:cs typeface="Microsoft Sans Serif"/>
              </a:rPr>
              <a:t>is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lo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cǐeale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deeprake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rǐom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luloǐials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descǐiplioks.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15" name="object 1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943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"/>
            <a:ext cx="11430000" cy="7524750"/>
          </a:xfrm>
          <a:custGeom>
            <a:avLst/>
            <a:gdLst/>
            <a:ahLst/>
            <a:cxnLst/>
            <a:rect l="l" t="t" r="r" b="b"/>
            <a:pathLst>
              <a:path w="11430000" h="7524750">
                <a:moveTo>
                  <a:pt x="11430000" y="0"/>
                </a:moveTo>
                <a:lnTo>
                  <a:pt x="0" y="0"/>
                </a:lnTo>
                <a:lnTo>
                  <a:pt x="0" y="7524750"/>
                </a:lnTo>
                <a:lnTo>
                  <a:pt x="11430000" y="75247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507"/>
            <a:ext cx="4286250" cy="7524750"/>
            <a:chOff x="7143750" y="507"/>
            <a:chExt cx="4286250" cy="75247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507"/>
              <a:ext cx="4286250" cy="7524241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7017257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382587"/>
            <a:ext cx="5375275" cy="1128395"/>
          </a:xfrm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5"/>
              </a:spcBef>
            </a:pPr>
            <a:r>
              <a:rPr dirty="0" spc="965"/>
              <a:t>Scale</a:t>
            </a:r>
            <a:r>
              <a:rPr dirty="0" spc="25"/>
              <a:t> </a:t>
            </a:r>
            <a:r>
              <a:rPr dirty="0" spc="650"/>
              <a:t>oĒ</a:t>
            </a:r>
            <a:r>
              <a:rPr dirty="0" spc="30"/>
              <a:t> </a:t>
            </a:r>
            <a:r>
              <a:rPr dirty="0" spc="844"/>
              <a:t>the</a:t>
            </a:r>
            <a:r>
              <a:rPr dirty="0" spc="25"/>
              <a:t> </a:t>
            </a:r>
            <a:r>
              <a:rPr dirty="0" spc="940"/>
              <a:t>Problefi</a:t>
            </a:r>
            <a:r>
              <a:rPr dirty="0" spc="30"/>
              <a:t> </a:t>
            </a:r>
            <a:r>
              <a:rPr dirty="0" spc="430"/>
              <a:t>— </a:t>
            </a:r>
            <a:r>
              <a:rPr dirty="0" spc="994"/>
              <a:t>Key</a:t>
            </a:r>
            <a:r>
              <a:rPr dirty="0" spc="25"/>
              <a:t> </a:t>
            </a:r>
            <a:r>
              <a:rPr dirty="0" spc="795"/>
              <a:t>Quantitative </a:t>
            </a:r>
            <a:r>
              <a:rPr dirty="0" spc="840"/>
              <a:t>Findings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87375" y="1712753"/>
            <a:ext cx="5961380" cy="7493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55"/>
              </a:spcBef>
            </a:pPr>
            <a:r>
              <a:rPr dirty="0" sz="1150" spc="-45">
                <a:solidFill>
                  <a:srgbClr val="D7E5D8"/>
                </a:solidFill>
                <a:latin typeface="Microsoft Sans Serif"/>
                <a:cs typeface="Microsoft Sans Serif"/>
              </a:rPr>
              <a:t>The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data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ǐeveal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substantial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ecosystem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of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public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to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pǐoduce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images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of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identifiable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people. </a:t>
            </a:r>
            <a:r>
              <a:rPr dirty="0" sz="1150" spc="-45">
                <a:solidFill>
                  <a:srgbClr val="D7E5D8"/>
                </a:solidFill>
                <a:latin typeface="Microsoft Sans Serif"/>
                <a:cs typeface="Microsoft Sans Serif"/>
              </a:rPr>
              <a:t>These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have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been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widely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downloaded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and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often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caǐǐy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explicit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oǐ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sexual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intent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signals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in tags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and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descǐiptions.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51104" y="5588222"/>
            <a:ext cx="86360" cy="138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50">
                <a:solidFill>
                  <a:srgbClr val="D7E5D8"/>
                </a:solidFill>
                <a:latin typeface="Verdana"/>
                <a:cs typeface="Verdana"/>
              </a:rPr>
              <a:t>0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51104" y="5180437"/>
            <a:ext cx="134620" cy="138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solidFill>
                  <a:srgbClr val="D7E5D8"/>
                </a:solidFill>
                <a:latin typeface="Verdana"/>
                <a:cs typeface="Verdana"/>
              </a:rPr>
              <a:t>5k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51104" y="4772653"/>
            <a:ext cx="177800" cy="138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30">
                <a:solidFill>
                  <a:srgbClr val="D7E5D8"/>
                </a:solidFill>
                <a:latin typeface="Verdana"/>
                <a:cs typeface="Verdana"/>
              </a:rPr>
              <a:t>10k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51104" y="4364868"/>
            <a:ext cx="173355" cy="138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40">
                <a:solidFill>
                  <a:srgbClr val="D7E5D8"/>
                </a:solidFill>
                <a:latin typeface="Verdana"/>
                <a:cs typeface="Verdana"/>
              </a:rPr>
              <a:t>15k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51104" y="3957084"/>
            <a:ext cx="196215" cy="138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solidFill>
                  <a:srgbClr val="D7E5D8"/>
                </a:solidFill>
                <a:latin typeface="Verdana"/>
                <a:cs typeface="Verdana"/>
              </a:rPr>
              <a:t>20k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51104" y="3549295"/>
            <a:ext cx="192405" cy="138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solidFill>
                  <a:srgbClr val="D7E5D8"/>
                </a:solidFill>
                <a:latin typeface="Verdana"/>
                <a:cs typeface="Verdana"/>
              </a:rPr>
              <a:t>25k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351104" y="3141511"/>
            <a:ext cx="197485" cy="138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solidFill>
                  <a:srgbClr val="D7E5D8"/>
                </a:solidFill>
                <a:latin typeface="Verdana"/>
                <a:cs typeface="Verdana"/>
              </a:rPr>
              <a:t>30k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281155" y="2627165"/>
            <a:ext cx="275590" cy="2451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82550" marR="5080" indent="-70485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solidFill>
                  <a:srgbClr val="D7E5D8"/>
                </a:solidFill>
                <a:latin typeface="Verdana"/>
                <a:cs typeface="Verdana"/>
              </a:rPr>
              <a:t>Value </a:t>
            </a:r>
            <a:r>
              <a:rPr dirty="0" sz="700" spc="-25">
                <a:solidFill>
                  <a:srgbClr val="D7E5D8"/>
                </a:solidFill>
                <a:latin typeface="Verdana"/>
                <a:cs typeface="Verdana"/>
              </a:rPr>
              <a:t>35k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798976" y="5731401"/>
            <a:ext cx="818515" cy="138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solidFill>
                  <a:srgbClr val="D7E5D8"/>
                </a:solidFill>
                <a:latin typeface="Verdana"/>
                <a:cs typeface="Verdana"/>
              </a:rPr>
              <a:t>Unique </a:t>
            </a:r>
            <a:r>
              <a:rPr dirty="0" sz="700" spc="-10">
                <a:solidFill>
                  <a:srgbClr val="D7E5D8"/>
                </a:solidFill>
                <a:latin typeface="Verdana"/>
                <a:cs typeface="Verdana"/>
              </a:rPr>
              <a:t>uploaders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98478" y="5731401"/>
            <a:ext cx="1390650" cy="138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solidFill>
                  <a:srgbClr val="D7E5D8"/>
                </a:solidFill>
                <a:latin typeface="Verdana"/>
                <a:cs typeface="Verdana"/>
              </a:rPr>
              <a:t>Top uploader's</a:t>
            </a:r>
            <a:r>
              <a:rPr dirty="0" sz="700" spc="5">
                <a:solidFill>
                  <a:srgbClr val="D7E5D8"/>
                </a:solidFill>
                <a:latin typeface="Verdana"/>
                <a:cs typeface="Verdana"/>
              </a:rPr>
              <a:t> </a:t>
            </a:r>
            <a:r>
              <a:rPr dirty="0" sz="700">
                <a:solidFill>
                  <a:srgbClr val="D7E5D8"/>
                </a:solidFill>
                <a:latin typeface="Verdana"/>
                <a:cs typeface="Verdana"/>
              </a:rPr>
              <a:t>deepfake</a:t>
            </a:r>
            <a:r>
              <a:rPr dirty="0" sz="700" spc="5">
                <a:solidFill>
                  <a:srgbClr val="D7E5D8"/>
                </a:solidFill>
                <a:latin typeface="Verdana"/>
                <a:cs typeface="Verdana"/>
              </a:rPr>
              <a:t> </a:t>
            </a:r>
            <a:r>
              <a:rPr dirty="0" sz="700" spc="-25">
                <a:solidFill>
                  <a:srgbClr val="D7E5D8"/>
                </a:solidFill>
                <a:latin typeface="Verdana"/>
                <a:cs typeface="Verdana"/>
              </a:rPr>
              <a:t>mo…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81221" y="5679829"/>
            <a:ext cx="2984500" cy="35433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700">
                <a:solidFill>
                  <a:srgbClr val="D7E5D8"/>
                </a:solidFill>
                <a:latin typeface="Verdana"/>
                <a:cs typeface="Verdana"/>
              </a:rPr>
              <a:t>Model</a:t>
            </a:r>
            <a:r>
              <a:rPr dirty="0" sz="700" spc="30">
                <a:solidFill>
                  <a:srgbClr val="D7E5D8"/>
                </a:solidFill>
                <a:latin typeface="Verdana"/>
                <a:cs typeface="Verdana"/>
              </a:rPr>
              <a:t> </a:t>
            </a:r>
            <a:r>
              <a:rPr dirty="0" sz="700" spc="-10">
                <a:solidFill>
                  <a:srgbClr val="D7E5D8"/>
                </a:solidFill>
                <a:latin typeface="Verdana"/>
                <a:cs typeface="Verdana"/>
              </a:rPr>
              <a:t>variants</a:t>
            </a:r>
            <a:r>
              <a:rPr dirty="0" sz="700" spc="30">
                <a:solidFill>
                  <a:srgbClr val="D7E5D8"/>
                </a:solidFill>
                <a:latin typeface="Verdana"/>
                <a:cs typeface="Verdana"/>
              </a:rPr>
              <a:t> </a:t>
            </a:r>
            <a:r>
              <a:rPr dirty="0" sz="700">
                <a:solidFill>
                  <a:srgbClr val="D7E5D8"/>
                </a:solidFill>
                <a:latin typeface="Verdana"/>
                <a:cs typeface="Verdana"/>
              </a:rPr>
              <a:t>tagged</a:t>
            </a:r>
            <a:r>
              <a:rPr dirty="0" sz="700" spc="30">
                <a:solidFill>
                  <a:srgbClr val="D7E5D8"/>
                </a:solidFill>
                <a:latin typeface="Verdana"/>
                <a:cs typeface="Verdana"/>
              </a:rPr>
              <a:t> </a:t>
            </a:r>
            <a:r>
              <a:rPr dirty="0" sz="700">
                <a:solidFill>
                  <a:srgbClr val="D7E5D8"/>
                </a:solidFill>
                <a:latin typeface="Verdana"/>
                <a:cs typeface="Verdana"/>
              </a:rPr>
              <a:t>"Cele…</a:t>
            </a:r>
            <a:r>
              <a:rPr dirty="0" sz="700" spc="245">
                <a:solidFill>
                  <a:srgbClr val="D7E5D8"/>
                </a:solidFill>
                <a:latin typeface="Verdana"/>
                <a:cs typeface="Verdana"/>
              </a:rPr>
              <a:t> </a:t>
            </a:r>
            <a:r>
              <a:rPr dirty="0" sz="700" spc="-10">
                <a:solidFill>
                  <a:srgbClr val="D7E5D8"/>
                </a:solidFill>
                <a:latin typeface="Verdana"/>
                <a:cs typeface="Verdana"/>
              </a:rPr>
              <a:t>Cumulative</a:t>
            </a:r>
            <a:r>
              <a:rPr dirty="0" sz="700" spc="30">
                <a:solidFill>
                  <a:srgbClr val="D7E5D8"/>
                </a:solidFill>
                <a:latin typeface="Verdana"/>
                <a:cs typeface="Verdana"/>
              </a:rPr>
              <a:t> </a:t>
            </a:r>
            <a:r>
              <a:rPr dirty="0" sz="700">
                <a:solidFill>
                  <a:srgbClr val="D7E5D8"/>
                </a:solidFill>
                <a:latin typeface="Verdana"/>
                <a:cs typeface="Verdana"/>
              </a:rPr>
              <a:t>downloads</a:t>
            </a:r>
            <a:r>
              <a:rPr dirty="0" sz="700" spc="35">
                <a:solidFill>
                  <a:srgbClr val="D7E5D8"/>
                </a:solidFill>
                <a:latin typeface="Verdana"/>
                <a:cs typeface="Verdana"/>
              </a:rPr>
              <a:t> </a:t>
            </a:r>
            <a:r>
              <a:rPr dirty="0" sz="700" spc="-10">
                <a:solidFill>
                  <a:srgbClr val="D7E5D8"/>
                </a:solidFill>
                <a:latin typeface="Verdana"/>
                <a:cs typeface="Verdana"/>
              </a:rPr>
              <a:t>(milli…</a:t>
            </a:r>
            <a:endParaRPr sz="7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450"/>
              </a:spcBef>
            </a:pPr>
            <a:r>
              <a:rPr dirty="0" sz="700" spc="-10">
                <a:solidFill>
                  <a:srgbClr val="D7E5D8"/>
                </a:solidFill>
                <a:latin typeface="Verdana"/>
                <a:cs typeface="Verdana"/>
              </a:rPr>
              <a:t>Metric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011" y="2798241"/>
            <a:ext cx="5630829" cy="2924886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87375" y="6103780"/>
            <a:ext cx="5848350" cy="977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Additional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metadata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highlights: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40">
                <a:solidFill>
                  <a:srgbClr val="D7E5D8"/>
                </a:solidFill>
                <a:latin typeface="Microsoft Sans Serif"/>
                <a:cs typeface="Microsoft Sans Serif"/>
              </a:rPr>
              <a:t>80%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of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deepfake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use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LoRA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fin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e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tuning;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tags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include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"sexy"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75">
                <a:solidFill>
                  <a:srgbClr val="D7E5D8"/>
                </a:solidFill>
                <a:latin typeface="Microsoft Sans Serif"/>
                <a:cs typeface="Microsoft Sans Serif"/>
              </a:rPr>
              <a:t>(14.5%),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"nsfw"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0">
                <a:solidFill>
                  <a:srgbClr val="D7E5D8"/>
                </a:solidFill>
                <a:latin typeface="Microsoft Sans Serif"/>
                <a:cs typeface="Microsoft Sans Serif"/>
              </a:rPr>
              <a:t>(46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occuǐǐences),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"nude"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75">
                <a:solidFill>
                  <a:srgbClr val="D7E5D8"/>
                </a:solidFill>
                <a:latin typeface="Microsoft Sans Serif"/>
                <a:cs typeface="Microsoft Sans Serif"/>
              </a:rPr>
              <a:t>(77),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"poǐn"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0">
                <a:solidFill>
                  <a:srgbClr val="D7E5D8"/>
                </a:solidFill>
                <a:latin typeface="Microsoft Sans Serif"/>
                <a:cs typeface="Microsoft Sans Serif"/>
              </a:rPr>
              <a:t>(221).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Gendeǐ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skew: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40">
                <a:solidFill>
                  <a:srgbClr val="D7E5D8"/>
                </a:solidFill>
                <a:latin typeface="Microsoft Sans Serif"/>
                <a:cs typeface="Microsoft Sans Serif"/>
              </a:rPr>
              <a:t>6,883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tagged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"female"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veǐsus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65">
                <a:solidFill>
                  <a:srgbClr val="D7E5D8"/>
                </a:solidFill>
                <a:latin typeface="Microsoft Sans Serif"/>
                <a:cs typeface="Microsoft Sans Serif"/>
              </a:rPr>
              <a:t>99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tagged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"male";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among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the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top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55">
                <a:solidFill>
                  <a:srgbClr val="D7E5D8"/>
                </a:solidFill>
                <a:latin typeface="Microsoft Sans Serif"/>
                <a:cs typeface="Microsoft Sans Serif"/>
              </a:rPr>
              <a:t>100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mos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t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downloaded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deepfake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models,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85">
                <a:solidFill>
                  <a:srgbClr val="D7E5D8"/>
                </a:solidFill>
                <a:latin typeface="Microsoft Sans Serif"/>
                <a:cs typeface="Microsoft Sans Serif"/>
              </a:rPr>
              <a:t>97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taǐget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women.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7391400"/>
          </a:xfrm>
          <a:custGeom>
            <a:avLst/>
            <a:gdLst/>
            <a:ahLst/>
            <a:cxnLst/>
            <a:rect l="l" t="t" r="r" b="b"/>
            <a:pathLst>
              <a:path w="11430000" h="7391400">
                <a:moveTo>
                  <a:pt x="11430000" y="0"/>
                </a:moveTo>
                <a:lnTo>
                  <a:pt x="0" y="0"/>
                </a:lnTo>
                <a:lnTo>
                  <a:pt x="0" y="7391400"/>
                </a:lnTo>
                <a:lnTo>
                  <a:pt x="11430000" y="73914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7391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352107"/>
            <a:ext cx="5572760" cy="787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400"/>
              </a:lnSpc>
              <a:spcBef>
                <a:spcPts val="95"/>
              </a:spcBef>
            </a:pPr>
            <a:r>
              <a:rPr dirty="0" spc="670"/>
              <a:t>Flux:</a:t>
            </a:r>
            <a:r>
              <a:rPr dirty="0" spc="50"/>
              <a:t> </a:t>
            </a:r>
            <a:r>
              <a:rPr dirty="0" spc="745"/>
              <a:t>Architectural</a:t>
            </a:r>
            <a:r>
              <a:rPr dirty="0" spc="50"/>
              <a:t> </a:t>
            </a:r>
            <a:r>
              <a:rPr dirty="0" spc="635"/>
              <a:t>ShiĒt </a:t>
            </a:r>
            <a:r>
              <a:rPr dirty="0" spc="1145"/>
              <a:t>and</a:t>
            </a:r>
            <a:r>
              <a:rPr dirty="0" spc="30"/>
              <a:t> </a:t>
            </a:r>
            <a:r>
              <a:rPr dirty="0" spc="1035"/>
              <a:t>Rapid</a:t>
            </a:r>
            <a:r>
              <a:rPr dirty="0" spc="30"/>
              <a:t> </a:t>
            </a:r>
            <a:r>
              <a:rPr dirty="0" spc="905"/>
              <a:t>Adoption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873622" y="1341278"/>
            <a:ext cx="5795645" cy="7397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 sz="1150" spc="-85">
                <a:solidFill>
                  <a:srgbClr val="D7E5D8"/>
                </a:solidFill>
                <a:latin typeface="Microsoft Sans Serif"/>
                <a:cs typeface="Microsoft Sans Serif"/>
              </a:rPr>
              <a:t>Hhe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Flux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(Black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Foǐesl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Labs,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6uσ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202į)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iklǐoduced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Dirrusiok</a:t>
            </a:r>
            <a:r>
              <a:rPr dirty="0" sz="1150" spc="-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Hǐaksroǐmeǐ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aǐchilecluǐe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lhal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acceleǐales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impǐoves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LoR6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rik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e</a:t>
            </a:r>
            <a:r>
              <a:rPr dirty="0" sz="100" spc="2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lukikσ.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Ils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aǐǐival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coikcided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wilh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50">
                <a:solidFill>
                  <a:srgbClr val="D7E5D8"/>
                </a:solidFill>
                <a:latin typeface="Microsoft Sans Serif"/>
                <a:cs typeface="Microsoft Sans Serif"/>
              </a:rPr>
              <a:t>a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maǐked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ikcǐease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ik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60">
                <a:solidFill>
                  <a:srgbClr val="D7E5D8"/>
                </a:solidFill>
                <a:latin typeface="Microsoft Sans Serif"/>
                <a:cs typeface="Microsoft Sans Serif"/>
              </a:rPr>
              <a:t>easilQ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cǐealed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deeprake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vaǐiakls.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5917" y="2267987"/>
            <a:ext cx="235863" cy="39184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99025" y="2889250"/>
            <a:ext cx="215900" cy="12065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873625" y="2809748"/>
            <a:ext cx="5750560" cy="8051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2095">
              <a:lnSpc>
                <a:spcPct val="100000"/>
              </a:lnSpc>
              <a:spcBef>
                <a:spcPts val="125"/>
              </a:spcBef>
            </a:pPr>
            <a:r>
              <a:rPr dirty="0" sz="1450" spc="445" b="1">
                <a:solidFill>
                  <a:srgbClr val="D7E5D8"/>
                </a:solidFill>
                <a:latin typeface="Trebuchet MS"/>
                <a:cs typeface="Trebuchet MS"/>
              </a:rPr>
              <a:t>igher</a:t>
            </a:r>
            <a:r>
              <a:rPr dirty="0" sz="1450" spc="2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600" b="1">
                <a:solidFill>
                  <a:srgbClr val="D7E5D8"/>
                </a:solidFill>
                <a:latin typeface="Trebuchet MS"/>
                <a:cs typeface="Trebuchet MS"/>
              </a:rPr>
              <a:t>deepĒake</a:t>
            </a:r>
            <a:r>
              <a:rPr dirty="0" sz="1450" spc="2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465" b="1">
                <a:solidFill>
                  <a:srgbClr val="D7E5D8"/>
                </a:solidFill>
                <a:latin typeface="Trebuchet MS"/>
                <a:cs typeface="Trebuchet MS"/>
              </a:rPr>
              <a:t>rate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dirty="0" sz="1150" spc="-95">
                <a:solidFill>
                  <a:srgbClr val="D7E5D8"/>
                </a:solidFill>
                <a:latin typeface="Microsoft Sans Serif"/>
                <a:cs typeface="Microsoft Sans Serif"/>
              </a:rPr>
              <a:t>29%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 or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assessed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Flux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vaǐiakls weǐe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deeprakes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(ı,27ı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models) </a:t>
            </a:r>
            <a:r>
              <a:rPr dirty="0" sz="1150" spc="-40">
                <a:solidFill>
                  <a:srgbClr val="D7E5D8"/>
                </a:solidFill>
                <a:latin typeface="Microsoft Sans Serif"/>
                <a:cs typeface="Microsoft Sans Serif"/>
              </a:rPr>
              <a:t>vs.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95">
                <a:solidFill>
                  <a:srgbClr val="D7E5D8"/>
                </a:solidFill>
                <a:latin typeface="Microsoft Sans Serif"/>
                <a:cs typeface="Microsoft Sans Serif"/>
              </a:rPr>
              <a:t>7.3%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Slable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Dirrusiok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vaǐiakls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ik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lhe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same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sample.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886341" y="3943946"/>
            <a:ext cx="375285" cy="374015"/>
          </a:xfrm>
          <a:custGeom>
            <a:avLst/>
            <a:gdLst/>
            <a:ahLst/>
            <a:cxnLst/>
            <a:rect l="l" t="t" r="r" b="b"/>
            <a:pathLst>
              <a:path w="375285" h="374014">
                <a:moveTo>
                  <a:pt x="79511" y="340372"/>
                </a:moveTo>
                <a:lnTo>
                  <a:pt x="48283" y="313237"/>
                </a:lnTo>
                <a:lnTo>
                  <a:pt x="23936" y="280365"/>
                </a:lnTo>
                <a:lnTo>
                  <a:pt x="7465" y="241833"/>
                </a:lnTo>
                <a:lnTo>
                  <a:pt x="187" y="202222"/>
                </a:lnTo>
                <a:lnTo>
                  <a:pt x="0" y="194735"/>
                </a:lnTo>
                <a:lnTo>
                  <a:pt x="42" y="186140"/>
                </a:lnTo>
                <a:lnTo>
                  <a:pt x="4788" y="144587"/>
                </a:lnTo>
                <a:lnTo>
                  <a:pt x="18658" y="105089"/>
                </a:lnTo>
                <a:lnTo>
                  <a:pt x="28127" y="87503"/>
                </a:lnTo>
                <a:lnTo>
                  <a:pt x="33753" y="78917"/>
                </a:lnTo>
              </a:path>
              <a:path w="375285" h="374014">
                <a:moveTo>
                  <a:pt x="361705" y="117195"/>
                </a:moveTo>
                <a:lnTo>
                  <a:pt x="372989" y="160063"/>
                </a:lnTo>
                <a:lnTo>
                  <a:pt x="375027" y="188950"/>
                </a:lnTo>
                <a:lnTo>
                  <a:pt x="374406" y="199041"/>
                </a:lnTo>
                <a:lnTo>
                  <a:pt x="366569" y="241657"/>
                </a:lnTo>
                <a:lnTo>
                  <a:pt x="349801" y="281215"/>
                </a:lnTo>
                <a:lnTo>
                  <a:pt x="325276" y="314088"/>
                </a:lnTo>
                <a:lnTo>
                  <a:pt x="289945" y="343660"/>
                </a:lnTo>
                <a:lnTo>
                  <a:pt x="248962" y="363498"/>
                </a:lnTo>
                <a:lnTo>
                  <a:pt x="204636" y="372872"/>
                </a:lnTo>
                <a:lnTo>
                  <a:pt x="193074" y="373875"/>
                </a:lnTo>
                <a:lnTo>
                  <a:pt x="183555" y="373746"/>
                </a:lnTo>
                <a:lnTo>
                  <a:pt x="140857" y="367774"/>
                </a:lnTo>
                <a:lnTo>
                  <a:pt x="98408" y="351329"/>
                </a:lnTo>
                <a:lnTo>
                  <a:pt x="88714" y="345963"/>
                </a:lnTo>
                <a:lnTo>
                  <a:pt x="79511" y="340372"/>
                </a:lnTo>
              </a:path>
              <a:path w="375285" h="374014">
                <a:moveTo>
                  <a:pt x="187601" y="255625"/>
                </a:moveTo>
                <a:lnTo>
                  <a:pt x="187588" y="63538"/>
                </a:lnTo>
              </a:path>
              <a:path w="375285" h="374014">
                <a:moveTo>
                  <a:pt x="114944" y="183032"/>
                </a:moveTo>
                <a:lnTo>
                  <a:pt x="187601" y="255625"/>
                </a:lnTo>
              </a:path>
              <a:path w="375285" h="374014">
                <a:moveTo>
                  <a:pt x="261007" y="182257"/>
                </a:moveTo>
                <a:lnTo>
                  <a:pt x="187601" y="255625"/>
                </a:lnTo>
              </a:path>
              <a:path w="375285" h="374014">
                <a:moveTo>
                  <a:pt x="113394" y="297903"/>
                </a:moveTo>
                <a:lnTo>
                  <a:pt x="260308" y="297662"/>
                </a:lnTo>
              </a:path>
              <a:path w="375285" h="374014">
                <a:moveTo>
                  <a:pt x="33677" y="78854"/>
                </a:moveTo>
                <a:lnTo>
                  <a:pt x="68043" y="42329"/>
                </a:lnTo>
                <a:lnTo>
                  <a:pt x="110816" y="16141"/>
                </a:lnTo>
                <a:lnTo>
                  <a:pt x="158975" y="2108"/>
                </a:lnTo>
                <a:lnTo>
                  <a:pt x="184016" y="0"/>
                </a:lnTo>
                <a:lnTo>
                  <a:pt x="196558" y="204"/>
                </a:lnTo>
                <a:lnTo>
                  <a:pt x="245890" y="9292"/>
                </a:lnTo>
                <a:lnTo>
                  <a:pt x="291086" y="31023"/>
                </a:lnTo>
                <a:lnTo>
                  <a:pt x="328983" y="63886"/>
                </a:lnTo>
                <a:lnTo>
                  <a:pt x="356899" y="105556"/>
                </a:lnTo>
                <a:lnTo>
                  <a:pt x="362073" y="117043"/>
                </a:lnTo>
              </a:path>
            </a:pathLst>
          </a:custGeom>
          <a:ln w="16619">
            <a:solidFill>
              <a:srgbClr val="A8F00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873625" y="4476622"/>
            <a:ext cx="5962650" cy="8051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650" b="1">
                <a:solidFill>
                  <a:srgbClr val="D7E5D8"/>
                </a:solidFill>
                <a:latin typeface="Trebuchet MS"/>
                <a:cs typeface="Trebuchet MS"/>
              </a:rPr>
              <a:t>Rapid</a:t>
            </a:r>
            <a:r>
              <a:rPr dirty="0" sz="1450" spc="3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585" b="1">
                <a:solidFill>
                  <a:srgbClr val="D7E5D8"/>
                </a:solidFill>
                <a:latin typeface="Trebuchet MS"/>
                <a:cs typeface="Trebuchet MS"/>
              </a:rPr>
              <a:t>uptake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Flux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deeprake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vaǐiakls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exceeded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700,000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dowkloads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ok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Civilai.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75">
                <a:solidFill>
                  <a:srgbClr val="D7E5D8"/>
                </a:solidFill>
                <a:latin typeface="Microsoft Sans Serif"/>
                <a:cs typeface="Microsoft Sans Serif"/>
              </a:rPr>
              <a:t>BQ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Dec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202į,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įį.3%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or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Flux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LoR6s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uploaded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lo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Civilai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weǐe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deeprake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40">
                <a:solidFill>
                  <a:srgbClr val="D7E5D8"/>
                </a:solidFill>
                <a:latin typeface="Microsoft Sans Serif"/>
                <a:cs typeface="Microsoft Sans Serif"/>
              </a:rPr>
              <a:t>(vs.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3ı.y%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ik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6uσ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202į).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904159" y="5601871"/>
            <a:ext cx="339725" cy="391795"/>
            <a:chOff x="4904159" y="5601871"/>
            <a:chExt cx="339725" cy="391795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4159" y="5669994"/>
              <a:ext cx="339375" cy="32357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912461" y="5985256"/>
              <a:ext cx="323215" cy="635"/>
            </a:xfrm>
            <a:custGeom>
              <a:avLst/>
              <a:gdLst/>
              <a:ahLst/>
              <a:cxnLst/>
              <a:rect l="l" t="t" r="r" b="b"/>
              <a:pathLst>
                <a:path w="323214" h="635">
                  <a:moveTo>
                    <a:pt x="322770" y="12"/>
                  </a:moveTo>
                  <a:lnTo>
                    <a:pt x="0" y="0"/>
                  </a:lnTo>
                </a:path>
              </a:pathLst>
            </a:custGeom>
            <a:ln w="16605">
              <a:solidFill>
                <a:srgbClr val="A8F00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09010" y="5808233"/>
              <a:ext cx="129825" cy="7295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2642" y="5601871"/>
              <a:ext cx="216109" cy="124377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4873625" y="6143497"/>
            <a:ext cx="5949315" cy="8051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490" b="1">
                <a:solidFill>
                  <a:srgbClr val="D7E5D8"/>
                </a:solidFill>
                <a:latin typeface="Trebuchet MS"/>
                <a:cs typeface="Trebuchet MS"/>
              </a:rPr>
              <a:t>Persistent</a:t>
            </a:r>
            <a:r>
              <a:rPr dirty="0" sz="1450" spc="3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580" b="1">
                <a:solidFill>
                  <a:srgbClr val="D7E5D8"/>
                </a:solidFill>
                <a:latin typeface="Trebuchet MS"/>
                <a:cs typeface="Trebuchet MS"/>
              </a:rPr>
              <a:t>gender</a:t>
            </a:r>
            <a:r>
              <a:rPr dirty="0" sz="1450" spc="4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455" b="1">
                <a:solidFill>
                  <a:srgbClr val="D7E5D8"/>
                </a:solidFill>
                <a:latin typeface="Trebuchet MS"/>
                <a:cs typeface="Trebuchet MS"/>
              </a:rPr>
              <a:t>disparity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6cǐoss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aǐchilecluǐes,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70">
                <a:solidFill>
                  <a:srgbClr val="D7E5D8"/>
                </a:solidFill>
                <a:latin typeface="Microsoft Sans Serif"/>
                <a:cs typeface="Microsoft Sans Serif"/>
              </a:rPr>
              <a:t>96%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or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deeprake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laǐσel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womek;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ok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Civilai,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0">
                <a:solidFill>
                  <a:srgbClr val="D7E5D8"/>
                </a:solidFill>
                <a:latin typeface="Microsoft Sans Serif"/>
                <a:cs typeface="Microsoft Sans Serif"/>
              </a:rPr>
              <a:t>9®.į%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or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deeprake 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dowkloads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aǐe</a:t>
            </a:r>
            <a:r>
              <a:rPr dirty="0" sz="1150" spc="-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-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laǐσelikσ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womek.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17" name="object 17" descr="">
            <a:hlinkClick r:id="rId8"/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80244" y="68770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54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720" b="0">
                <a:latin typeface="SimSun-ExtB"/>
                <a:cs typeface="SimSun-ExtB"/>
              </a:rPr>
              <a:t>LolicQ</a:t>
            </a:r>
            <a:r>
              <a:rPr dirty="0" spc="-430" b="0">
                <a:latin typeface="SimSun-ExtB"/>
                <a:cs typeface="SimSun-ExtB"/>
              </a:rPr>
              <a:t> </a:t>
            </a:r>
            <a:r>
              <a:rPr dirty="0" spc="919" b="0">
                <a:latin typeface="SimSun-ExtB"/>
                <a:cs typeface="SimSun-ExtB"/>
              </a:rPr>
              <a:t>La⭲dscape=</a:t>
            </a:r>
            <a:r>
              <a:rPr dirty="0" spc="-430" b="0">
                <a:latin typeface="SimSun-ExtB"/>
                <a:cs typeface="SimSun-ExtB"/>
              </a:rPr>
              <a:t> </a:t>
            </a:r>
            <a:r>
              <a:rPr dirty="0" spc="900" b="0">
                <a:latin typeface="SimSun-ExtB"/>
                <a:cs typeface="SimSun-ExtB"/>
              </a:rPr>
              <a:t>R-les</a:t>
            </a:r>
            <a:r>
              <a:rPr dirty="0" spc="-430" b="0">
                <a:latin typeface="SimSun-ExtB"/>
                <a:cs typeface="SimSun-ExtB"/>
              </a:rPr>
              <a:t> </a:t>
            </a:r>
            <a:r>
              <a:rPr dirty="0" spc="850" b="0">
                <a:latin typeface="SimSun-ExtB"/>
                <a:cs typeface="SimSun-ExtB"/>
              </a:rPr>
              <a:t>vs</a:t>
            </a:r>
            <a:r>
              <a:rPr dirty="0" spc="-430" b="0">
                <a:latin typeface="SimSun-ExtB"/>
                <a:cs typeface="SimSun-ExtB"/>
              </a:rPr>
              <a:t> </a:t>
            </a:r>
            <a:r>
              <a:rPr dirty="0" spc="605" b="0">
                <a:latin typeface="SimSun-ExtB"/>
                <a:cs typeface="SimSun-ExtB"/>
              </a:rPr>
              <a:t>E⭲Ēorcefie⭲l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95300" y="1800224"/>
            <a:ext cx="4086225" cy="3438525"/>
            <a:chOff x="495300" y="1800224"/>
            <a:chExt cx="4086225" cy="3438525"/>
          </a:xfrm>
        </p:grpSpPr>
        <p:sp>
          <p:nvSpPr>
            <p:cNvPr id="4" name="object 4" descr=""/>
            <p:cNvSpPr/>
            <p:nvPr/>
          </p:nvSpPr>
          <p:spPr>
            <a:xfrm>
              <a:off x="495300" y="1800224"/>
              <a:ext cx="4086225" cy="3438525"/>
            </a:xfrm>
            <a:custGeom>
              <a:avLst/>
              <a:gdLst/>
              <a:ahLst/>
              <a:cxnLst/>
              <a:rect l="l" t="t" r="r" b="b"/>
              <a:pathLst>
                <a:path w="4086225" h="3438525">
                  <a:moveTo>
                    <a:pt x="4002125" y="0"/>
                  </a:moveTo>
                  <a:lnTo>
                    <a:pt x="84103" y="0"/>
                  </a:lnTo>
                  <a:lnTo>
                    <a:pt x="78248" y="571"/>
                  </a:lnTo>
                  <a:lnTo>
                    <a:pt x="35088" y="18453"/>
                  </a:lnTo>
                  <a:lnTo>
                    <a:pt x="9113" y="50101"/>
                  </a:lnTo>
                  <a:lnTo>
                    <a:pt x="0" y="84099"/>
                  </a:lnTo>
                  <a:lnTo>
                    <a:pt x="0" y="3348520"/>
                  </a:lnTo>
                  <a:lnTo>
                    <a:pt x="0" y="3354425"/>
                  </a:lnTo>
                  <a:lnTo>
                    <a:pt x="11885" y="3393605"/>
                  </a:lnTo>
                  <a:lnTo>
                    <a:pt x="44916" y="3426634"/>
                  </a:lnTo>
                  <a:lnTo>
                    <a:pt x="84103" y="3438526"/>
                  </a:lnTo>
                  <a:lnTo>
                    <a:pt x="4002125" y="3438526"/>
                  </a:lnTo>
                  <a:lnTo>
                    <a:pt x="4041305" y="3426634"/>
                  </a:lnTo>
                  <a:lnTo>
                    <a:pt x="4074337" y="3393605"/>
                  </a:lnTo>
                  <a:lnTo>
                    <a:pt x="4086225" y="3354425"/>
                  </a:lnTo>
                  <a:lnTo>
                    <a:pt x="4086225" y="84099"/>
                  </a:lnTo>
                  <a:lnTo>
                    <a:pt x="4074337" y="44919"/>
                  </a:lnTo>
                  <a:lnTo>
                    <a:pt x="4041305" y="11887"/>
                  </a:lnTo>
                  <a:lnTo>
                    <a:pt x="4007980" y="571"/>
                  </a:lnTo>
                  <a:lnTo>
                    <a:pt x="4002125" y="0"/>
                  </a:lnTo>
                  <a:close/>
                </a:path>
              </a:pathLst>
            </a:custGeom>
            <a:solidFill>
              <a:srgbClr val="000000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57225" y="2428874"/>
              <a:ext cx="47625" cy="819785"/>
            </a:xfrm>
            <a:custGeom>
              <a:avLst/>
              <a:gdLst/>
              <a:ahLst/>
              <a:cxnLst/>
              <a:rect l="l" t="t" r="r" b="b"/>
              <a:pathLst>
                <a:path w="47625" h="819785">
                  <a:moveTo>
                    <a:pt x="47625" y="792175"/>
                  </a:moveTo>
                  <a:lnTo>
                    <a:pt x="26962" y="771537"/>
                  </a:lnTo>
                  <a:lnTo>
                    <a:pt x="20650" y="771537"/>
                  </a:lnTo>
                  <a:lnTo>
                    <a:pt x="0" y="792175"/>
                  </a:lnTo>
                  <a:lnTo>
                    <a:pt x="0" y="798499"/>
                  </a:lnTo>
                  <a:lnTo>
                    <a:pt x="20650" y="819162"/>
                  </a:lnTo>
                  <a:lnTo>
                    <a:pt x="26962" y="819162"/>
                  </a:lnTo>
                  <a:lnTo>
                    <a:pt x="47625" y="798499"/>
                  </a:lnTo>
                  <a:lnTo>
                    <a:pt x="47625" y="795350"/>
                  </a:lnTo>
                  <a:lnTo>
                    <a:pt x="47625" y="792175"/>
                  </a:lnTo>
                  <a:close/>
                </a:path>
                <a:path w="47625" h="819785">
                  <a:moveTo>
                    <a:pt x="47625" y="20650"/>
                  </a:moveTo>
                  <a:lnTo>
                    <a:pt x="26962" y="0"/>
                  </a:lnTo>
                  <a:lnTo>
                    <a:pt x="20650" y="0"/>
                  </a:lnTo>
                  <a:lnTo>
                    <a:pt x="0" y="20650"/>
                  </a:lnTo>
                  <a:lnTo>
                    <a:pt x="0" y="26974"/>
                  </a:lnTo>
                  <a:lnTo>
                    <a:pt x="20650" y="47625"/>
                  </a:lnTo>
                  <a:lnTo>
                    <a:pt x="26962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7E5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29493" y="1923923"/>
            <a:ext cx="3739515" cy="2119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355">
                <a:solidFill>
                  <a:srgbClr val="F0F4F1"/>
                </a:solidFill>
                <a:latin typeface="SimSun-ExtB"/>
                <a:cs typeface="SimSun-ExtB"/>
              </a:rPr>
              <a:t>LlalĒorfi</a:t>
            </a:r>
            <a:r>
              <a:rPr dirty="0" sz="1450" spc="-260">
                <a:solidFill>
                  <a:srgbClr val="F0F4F1"/>
                </a:solidFill>
                <a:latin typeface="SimSun-ExtB"/>
                <a:cs typeface="SimSun-ExtB"/>
              </a:rPr>
              <a:t> </a:t>
            </a:r>
            <a:r>
              <a:rPr dirty="0" sz="1450" spc="360">
                <a:solidFill>
                  <a:srgbClr val="F0F4F1"/>
                </a:solidFill>
                <a:latin typeface="SimSun-ExtB"/>
                <a:cs typeface="SimSun-ExtB"/>
              </a:rPr>
              <a:t>policies</a:t>
            </a:r>
            <a:endParaRPr sz="1450">
              <a:latin typeface="SimSun-ExtB"/>
              <a:cs typeface="SimSun-ExtB"/>
            </a:endParaRPr>
          </a:p>
          <a:p>
            <a:pPr marL="252095" marR="178435">
              <a:lnSpc>
                <a:spcPct val="138600"/>
              </a:lnSpc>
              <a:spcBef>
                <a:spcPts val="1025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Hugging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Face: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foǐbids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no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n</a:t>
            </a:r>
            <a:r>
              <a:rPr dirty="0" sz="100" spc="1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consensual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publication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and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sexual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content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without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consent,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yet</a:t>
            </a:r>
            <a:r>
              <a:rPr dirty="0" sz="1150" spc="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~200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deepfake</a:t>
            </a:r>
            <a:r>
              <a:rPr dirty="0" sz="1150" spc="1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vaǐiants</a:t>
            </a:r>
            <a:r>
              <a:rPr dirty="0" sz="1150" spc="1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ǐemain.</a:t>
            </a:r>
            <a:endParaRPr sz="1150">
              <a:latin typeface="Microsoft Sans Serif"/>
              <a:cs typeface="Microsoft Sans Serif"/>
            </a:endParaRPr>
          </a:p>
          <a:p>
            <a:pPr marL="252095" marR="5080">
              <a:lnSpc>
                <a:spcPct val="135900"/>
              </a:lnSpc>
              <a:spcBef>
                <a:spcPts val="375"/>
              </a:spcBef>
            </a:pP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Civitai: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bans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"poǐtǐaying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people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in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matuǐe/suggestive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contexts"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but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does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not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explicitly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foǐbid</a:t>
            </a:r>
            <a:endParaRPr sz="1150">
              <a:latin typeface="Microsoft Sans Serif"/>
              <a:cs typeface="Microsoft Sans Serif"/>
            </a:endParaRPr>
          </a:p>
          <a:p>
            <a:pPr marL="252095" marR="407034">
              <a:lnSpc>
                <a:spcPct val="135900"/>
              </a:lnSpc>
              <a:spcBef>
                <a:spcPts val="75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non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consensual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likeness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unless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explicit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example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images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aǐe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pǐesent.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867275" y="39243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D7E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867275" y="42195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D7E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867275" y="45053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D7E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867275" y="48006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D7E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835078" y="1923923"/>
            <a:ext cx="6003925" cy="32340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395">
                <a:solidFill>
                  <a:srgbClr val="F0F4F1"/>
                </a:solidFill>
                <a:latin typeface="SimSun-ExtB"/>
                <a:cs typeface="SimSun-ExtB"/>
              </a:rPr>
              <a:t>E⭲Ēorcefie⭲l</a:t>
            </a:r>
            <a:r>
              <a:rPr dirty="0" sz="1450" spc="-270">
                <a:solidFill>
                  <a:srgbClr val="F0F4F1"/>
                </a:solidFill>
                <a:latin typeface="SimSun-ExtB"/>
                <a:cs typeface="SimSun-ExtB"/>
              </a:rPr>
              <a:t> </a:t>
            </a:r>
            <a:r>
              <a:rPr dirty="0" sz="1450" spc="415">
                <a:solidFill>
                  <a:srgbClr val="F0F4F1"/>
                </a:solidFill>
                <a:latin typeface="SimSun-ExtB"/>
                <a:cs typeface="SimSun-ExtB"/>
              </a:rPr>
              <a:t>paller⭲s</a:t>
            </a:r>
            <a:endParaRPr sz="1450">
              <a:latin typeface="SimSun-ExtB"/>
              <a:cs typeface="SimSun-ExtB"/>
            </a:endParaRPr>
          </a:p>
          <a:p>
            <a:pPr marL="12700" marR="5080">
              <a:lnSpc>
                <a:spcPct val="137700"/>
              </a:lnSpc>
              <a:spcBef>
                <a:spcPts val="1040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Civitai</a:t>
            </a:r>
            <a:r>
              <a:rPr dirty="0" sz="1150" spc="1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demonstǐates</a:t>
            </a:r>
            <a:r>
              <a:rPr dirty="0" sz="1150" spc="1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taǐgeted</a:t>
            </a:r>
            <a:r>
              <a:rPr dirty="0" sz="1150" spc="1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pǐoactive</a:t>
            </a:r>
            <a:r>
              <a:rPr dirty="0" sz="1150" spc="1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enfoǐcement</a:t>
            </a:r>
            <a:r>
              <a:rPr dirty="0" sz="1150" spc="1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on</a:t>
            </a:r>
            <a:r>
              <a:rPr dirty="0" sz="1150" spc="1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I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geneǐated</a:t>
            </a:r>
            <a:r>
              <a:rPr dirty="0" sz="1150" spc="1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child</a:t>
            </a:r>
            <a:r>
              <a:rPr dirty="0" sz="1150" spc="17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sexual</a:t>
            </a:r>
            <a:r>
              <a:rPr dirty="0" sz="1150" spc="1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abuse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mateǐial</a:t>
            </a:r>
            <a:r>
              <a:rPr dirty="0" sz="1150" spc="2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(blocked</a:t>
            </a:r>
            <a:r>
              <a:rPr dirty="0" sz="1150" spc="20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attempts</a:t>
            </a:r>
            <a:r>
              <a:rPr dirty="0" sz="1150" spc="2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and</a:t>
            </a:r>
            <a:r>
              <a:rPr dirty="0" sz="1150" spc="20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monthly</a:t>
            </a:r>
            <a:r>
              <a:rPr dirty="0" sz="1150" spc="2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ǐemovals),</a:t>
            </a:r>
            <a:r>
              <a:rPr dirty="0" sz="1150" spc="20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indicating</a:t>
            </a:r>
            <a:r>
              <a:rPr dirty="0" sz="1150" spc="2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enfoǐcement</a:t>
            </a:r>
            <a:r>
              <a:rPr dirty="0" sz="1150" spc="20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capacity</a:t>
            </a:r>
            <a:r>
              <a:rPr dirty="0" sz="1150" spc="2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exists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when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platfoǐms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pǐioǐitise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haǐm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categoǐies.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Howeveǐ,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metadata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loophole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allows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many</a:t>
            </a:r>
            <a:r>
              <a:rPr dirty="0" sz="1150" spc="500">
                <a:solidFill>
                  <a:srgbClr val="D7E5D8"/>
                </a:solidFill>
                <a:latin typeface="Microsoft Sans Serif"/>
                <a:cs typeface="Microsoft Sans Serif"/>
              </a:rPr>
              <a:t> 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non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consensual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to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peǐsist.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 spc="810">
                <a:solidFill>
                  <a:srgbClr val="F0F4F1"/>
                </a:solidFill>
                <a:latin typeface="SimSun-ExtB"/>
                <a:cs typeface="SimSun-ExtB"/>
              </a:rPr>
              <a:t>Reg-</a:t>
            </a:r>
            <a:r>
              <a:rPr dirty="0" sz="1450" spc="385">
                <a:solidFill>
                  <a:srgbClr val="F0F4F1"/>
                </a:solidFill>
                <a:latin typeface="SimSun-ExtB"/>
                <a:cs typeface="SimSun-ExtB"/>
              </a:rPr>
              <a:t>lalorQ</a:t>
            </a:r>
            <a:r>
              <a:rPr dirty="0" sz="1450" spc="-250">
                <a:solidFill>
                  <a:srgbClr val="F0F4F1"/>
                </a:solidFill>
                <a:latin typeface="SimSun-ExtB"/>
                <a:cs typeface="SimSun-ExtB"/>
              </a:rPr>
              <a:t> </a:t>
            </a:r>
            <a:r>
              <a:rPr dirty="0" sz="1450" spc="540">
                <a:solidFill>
                  <a:srgbClr val="F0F4F1"/>
                </a:solidFill>
                <a:latin typeface="SimSun-ExtB"/>
                <a:cs typeface="SimSun-ExtB"/>
              </a:rPr>
              <a:t>s⭲apshol</a:t>
            </a:r>
            <a:endParaRPr sz="1450">
              <a:latin typeface="SimSun-ExtB"/>
              <a:cs typeface="SimSun-ExtB"/>
            </a:endParaRPr>
          </a:p>
          <a:p>
            <a:pPr marL="252095">
              <a:lnSpc>
                <a:spcPct val="100000"/>
              </a:lnSpc>
              <a:spcBef>
                <a:spcPts val="1560"/>
              </a:spcBef>
            </a:pPr>
            <a:r>
              <a:rPr dirty="0" sz="1150" spc="-40">
                <a:solidFill>
                  <a:srgbClr val="D7E5D8"/>
                </a:solidFill>
                <a:latin typeface="Microsoft Sans Serif"/>
                <a:cs typeface="Microsoft Sans Serif"/>
              </a:rPr>
              <a:t>EU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AI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Act: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emphasises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wateǐmaǐking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of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I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geneǐated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content.</a:t>
            </a:r>
            <a:endParaRPr sz="1150">
              <a:latin typeface="Microsoft Sans Serif"/>
              <a:cs typeface="Microsoft Sans Serif"/>
            </a:endParaRPr>
          </a:p>
          <a:p>
            <a:pPr marL="252095" marR="1009015">
              <a:lnSpc>
                <a:spcPct val="163000"/>
              </a:lnSpc>
              <a:spcBef>
                <a:spcPts val="75"/>
              </a:spcBef>
            </a:pP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UK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Online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Safety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Act: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bans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dissemination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of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deepfakes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but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not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cǐeation. </a:t>
            </a:r>
            <a:r>
              <a:rPr dirty="0" sz="1150" spc="-45">
                <a:solidFill>
                  <a:srgbClr val="D7E5D8"/>
                </a:solidFill>
                <a:latin typeface="Microsoft Sans Serif"/>
                <a:cs typeface="Microsoft Sans Serif"/>
              </a:rPr>
              <a:t>US: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no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compǐehensive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fedeǐal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pǐohibition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on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deepfake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geneǐation.</a:t>
            </a:r>
            <a:endParaRPr sz="1150">
              <a:latin typeface="Microsoft Sans Serif"/>
              <a:cs typeface="Microsoft Sans Serif"/>
            </a:endParaRPr>
          </a:p>
          <a:p>
            <a:pPr marL="252095" marR="358775">
              <a:lnSpc>
                <a:spcPct val="135900"/>
              </a:lnSpc>
              <a:spcBef>
                <a:spcPts val="450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UN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pǐoposals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and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national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laws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aǐe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evolving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but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do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not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yet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unifoǐmly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taǐget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model cǐeation.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12" name="object 1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430000" cy="6562725"/>
          </a:xfrm>
          <a:custGeom>
            <a:avLst/>
            <a:gdLst/>
            <a:ahLst/>
            <a:cxnLst/>
            <a:rect l="l" t="t" r="r" b="b"/>
            <a:pathLst>
              <a:path w="11430000" h="6562725">
                <a:moveTo>
                  <a:pt x="11430000" y="0"/>
                </a:moveTo>
                <a:lnTo>
                  <a:pt x="0" y="0"/>
                </a:lnTo>
                <a:lnTo>
                  <a:pt x="0" y="6562725"/>
                </a:lnTo>
                <a:lnTo>
                  <a:pt x="11430000" y="65627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400"/>
              </a:lnSpc>
              <a:spcBef>
                <a:spcPts val="95"/>
              </a:spcBef>
            </a:pPr>
            <a:r>
              <a:rPr dirty="0" spc="830" b="0">
                <a:latin typeface="SimSun-ExtB"/>
                <a:cs typeface="SimSun-ExtB"/>
              </a:rPr>
              <a:t>Recofifie⭲dalio⭲s</a:t>
            </a:r>
            <a:r>
              <a:rPr dirty="0" spc="-409" b="0">
                <a:latin typeface="SimSun-ExtB"/>
                <a:cs typeface="SimSun-ExtB"/>
              </a:rPr>
              <a:t> </a:t>
            </a:r>
            <a:r>
              <a:rPr dirty="0" spc="1700" b="0">
                <a:latin typeface="SimSun-ExtB"/>
                <a:cs typeface="SimSun-ExtB"/>
              </a:rPr>
              <a:t>6</a:t>
            </a:r>
            <a:r>
              <a:rPr dirty="0" spc="-409" b="0">
                <a:latin typeface="SimSun-ExtB"/>
                <a:cs typeface="SimSun-ExtB"/>
              </a:rPr>
              <a:t> </a:t>
            </a:r>
            <a:r>
              <a:rPr dirty="0" spc="1075" b="0">
                <a:latin typeface="SimSun-ExtB"/>
                <a:cs typeface="SimSun-ExtB"/>
              </a:rPr>
              <a:t>Research </a:t>
            </a:r>
            <a:r>
              <a:rPr dirty="0" spc="459" b="0">
                <a:latin typeface="SimSun-ExtB"/>
                <a:cs typeface="SimSun-ExtB"/>
              </a:rPr>
              <a:t>Lifiilalio⭲s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600074" y="1466850"/>
            <a:ext cx="2447925" cy="4686300"/>
            <a:chOff x="600074" y="1466850"/>
            <a:chExt cx="2447925" cy="4686300"/>
          </a:xfrm>
        </p:grpSpPr>
        <p:sp>
          <p:nvSpPr>
            <p:cNvPr id="5" name="object 5" descr=""/>
            <p:cNvSpPr/>
            <p:nvPr/>
          </p:nvSpPr>
          <p:spPr>
            <a:xfrm>
              <a:off x="609600" y="1685925"/>
              <a:ext cx="2428875" cy="4457700"/>
            </a:xfrm>
            <a:custGeom>
              <a:avLst/>
              <a:gdLst/>
              <a:ahLst/>
              <a:cxnLst/>
              <a:rect l="l" t="t" r="r" b="b"/>
              <a:pathLst>
                <a:path w="2428875" h="4457700">
                  <a:moveTo>
                    <a:pt x="2366581" y="0"/>
                  </a:moveTo>
                  <a:lnTo>
                    <a:pt x="62299" y="0"/>
                  </a:lnTo>
                  <a:lnTo>
                    <a:pt x="57964" y="495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4414716"/>
                  </a:lnTo>
                  <a:lnTo>
                    <a:pt x="0" y="4420416"/>
                  </a:lnTo>
                  <a:lnTo>
                    <a:pt x="21267" y="4452245"/>
                  </a:lnTo>
                  <a:lnTo>
                    <a:pt x="37280" y="4457697"/>
                  </a:lnTo>
                  <a:lnTo>
                    <a:pt x="2391587" y="4457697"/>
                  </a:lnTo>
                  <a:lnTo>
                    <a:pt x="2423426" y="4436430"/>
                  </a:lnTo>
                  <a:lnTo>
                    <a:pt x="2428875" y="4420416"/>
                  </a:lnTo>
                  <a:lnTo>
                    <a:pt x="2428875" y="71196"/>
                  </a:lnTo>
                  <a:lnTo>
                    <a:pt x="2415209" y="29705"/>
                  </a:lnTo>
                  <a:lnTo>
                    <a:pt x="2383675" y="3886"/>
                  </a:lnTo>
                  <a:lnTo>
                    <a:pt x="2370912" y="495"/>
                  </a:lnTo>
                  <a:lnTo>
                    <a:pt x="2366581" y="0"/>
                  </a:lnTo>
                  <a:close/>
                </a:path>
              </a:pathLst>
            </a:custGeom>
            <a:solidFill>
              <a:srgbClr val="151F24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00062" y="1686775"/>
              <a:ext cx="2447925" cy="4466590"/>
            </a:xfrm>
            <a:custGeom>
              <a:avLst/>
              <a:gdLst/>
              <a:ahLst/>
              <a:cxnLst/>
              <a:rect l="l" t="t" r="r" b="b"/>
              <a:pathLst>
                <a:path w="2447925" h="4466590">
                  <a:moveTo>
                    <a:pt x="2447925" y="75361"/>
                  </a:moveTo>
                  <a:lnTo>
                    <a:pt x="2435098" y="33020"/>
                  </a:lnTo>
                  <a:lnTo>
                    <a:pt x="2400884" y="4965"/>
                  </a:lnTo>
                  <a:lnTo>
                    <a:pt x="2382494" y="0"/>
                  </a:lnTo>
                  <a:lnTo>
                    <a:pt x="2386596" y="1092"/>
                  </a:lnTo>
                  <a:lnTo>
                    <a:pt x="2400592" y="8826"/>
                  </a:lnTo>
                  <a:lnTo>
                    <a:pt x="2424519" y="46202"/>
                  </a:lnTo>
                  <a:lnTo>
                    <a:pt x="2428875" y="75361"/>
                  </a:lnTo>
                  <a:lnTo>
                    <a:pt x="2428875" y="4413872"/>
                  </a:lnTo>
                  <a:lnTo>
                    <a:pt x="2418562" y="4437964"/>
                  </a:lnTo>
                  <a:lnTo>
                    <a:pt x="2413927" y="4441812"/>
                  </a:lnTo>
                  <a:lnTo>
                    <a:pt x="2408263" y="4444885"/>
                  </a:lnTo>
                  <a:lnTo>
                    <a:pt x="2402103" y="4446714"/>
                  </a:lnTo>
                  <a:lnTo>
                    <a:pt x="2395423" y="4447324"/>
                  </a:lnTo>
                  <a:lnTo>
                    <a:pt x="52514" y="4447324"/>
                  </a:lnTo>
                  <a:lnTo>
                    <a:pt x="45834" y="4446714"/>
                  </a:lnTo>
                  <a:lnTo>
                    <a:pt x="39674" y="4444885"/>
                  </a:lnTo>
                  <a:lnTo>
                    <a:pt x="34010" y="4441812"/>
                  </a:lnTo>
                  <a:lnTo>
                    <a:pt x="29362" y="4437977"/>
                  </a:lnTo>
                  <a:lnTo>
                    <a:pt x="28854" y="4437532"/>
                  </a:lnTo>
                  <a:lnTo>
                    <a:pt x="24561" y="4432376"/>
                  </a:lnTo>
                  <a:lnTo>
                    <a:pt x="21501" y="4426712"/>
                  </a:lnTo>
                  <a:lnTo>
                    <a:pt x="19672" y="4420552"/>
                  </a:lnTo>
                  <a:lnTo>
                    <a:pt x="19050" y="4413872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4420832"/>
                  </a:lnTo>
                  <a:lnTo>
                    <a:pt x="20307" y="4455922"/>
                  </a:lnTo>
                  <a:lnTo>
                    <a:pt x="45542" y="4466374"/>
                  </a:lnTo>
                  <a:lnTo>
                    <a:pt x="2402382" y="4466374"/>
                  </a:lnTo>
                  <a:lnTo>
                    <a:pt x="2409075" y="4465053"/>
                  </a:lnTo>
                  <a:lnTo>
                    <a:pt x="2421940" y="4459719"/>
                  </a:lnTo>
                  <a:lnTo>
                    <a:pt x="2427617" y="4455922"/>
                  </a:lnTo>
                  <a:lnTo>
                    <a:pt x="2432075" y="4451477"/>
                  </a:lnTo>
                  <a:lnTo>
                    <a:pt x="2432558" y="4451007"/>
                  </a:lnTo>
                  <a:lnTo>
                    <a:pt x="2437473" y="4446079"/>
                  </a:lnTo>
                  <a:lnTo>
                    <a:pt x="2441257" y="4440402"/>
                  </a:lnTo>
                  <a:lnTo>
                    <a:pt x="2446591" y="4427537"/>
                  </a:lnTo>
                  <a:lnTo>
                    <a:pt x="2447925" y="4420832"/>
                  </a:lnTo>
                  <a:lnTo>
                    <a:pt x="2447925" y="75361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0075" y="1466850"/>
              <a:ext cx="2447925" cy="447675"/>
            </a:xfrm>
            <a:custGeom>
              <a:avLst/>
              <a:gdLst/>
              <a:ahLst/>
              <a:cxnLst/>
              <a:rect l="l" t="t" r="r" b="b"/>
              <a:pathLst>
                <a:path w="2447925" h="447675">
                  <a:moveTo>
                    <a:pt x="2447925" y="249085"/>
                  </a:moveTo>
                  <a:lnTo>
                    <a:pt x="2430094" y="212966"/>
                  </a:lnTo>
                  <a:lnTo>
                    <a:pt x="2398865" y="200025"/>
                  </a:lnTo>
                  <a:lnTo>
                    <a:pt x="1450098" y="200025"/>
                  </a:lnTo>
                  <a:lnTo>
                    <a:pt x="1449578" y="194602"/>
                  </a:lnTo>
                  <a:lnTo>
                    <a:pt x="1439608" y="151841"/>
                  </a:lnTo>
                  <a:lnTo>
                    <a:pt x="1421485" y="111861"/>
                  </a:lnTo>
                  <a:lnTo>
                    <a:pt x="1395907" y="76161"/>
                  </a:lnTo>
                  <a:lnTo>
                    <a:pt x="1363865" y="46164"/>
                  </a:lnTo>
                  <a:lnTo>
                    <a:pt x="1326578" y="22974"/>
                  </a:lnTo>
                  <a:lnTo>
                    <a:pt x="1285494" y="7505"/>
                  </a:lnTo>
                  <a:lnTo>
                    <a:pt x="1242174" y="355"/>
                  </a:lnTo>
                  <a:lnTo>
                    <a:pt x="1234871" y="0"/>
                  </a:lnTo>
                  <a:lnTo>
                    <a:pt x="1210678" y="0"/>
                  </a:lnTo>
                  <a:lnTo>
                    <a:pt x="1167155" y="5727"/>
                  </a:lnTo>
                  <a:lnTo>
                    <a:pt x="1125575" y="19850"/>
                  </a:lnTo>
                  <a:lnTo>
                    <a:pt x="1087551" y="41795"/>
                  </a:lnTo>
                  <a:lnTo>
                    <a:pt x="1054531" y="70751"/>
                  </a:lnTo>
                  <a:lnTo>
                    <a:pt x="1027823" y="105575"/>
                  </a:lnTo>
                  <a:lnTo>
                    <a:pt x="1008405" y="144957"/>
                  </a:lnTo>
                  <a:lnTo>
                    <a:pt x="997038" y="187363"/>
                  </a:lnTo>
                  <a:lnTo>
                    <a:pt x="995426" y="200025"/>
                  </a:lnTo>
                  <a:lnTo>
                    <a:pt x="49047" y="200025"/>
                  </a:lnTo>
                  <a:lnTo>
                    <a:pt x="12941" y="217843"/>
                  </a:lnTo>
                  <a:lnTo>
                    <a:pt x="0" y="249085"/>
                  </a:lnTo>
                  <a:lnTo>
                    <a:pt x="0" y="276225"/>
                  </a:lnTo>
                  <a:lnTo>
                    <a:pt x="1000277" y="276225"/>
                  </a:lnTo>
                  <a:lnTo>
                    <a:pt x="1001687" y="281800"/>
                  </a:lnTo>
                  <a:lnTo>
                    <a:pt x="1017143" y="322884"/>
                  </a:lnTo>
                  <a:lnTo>
                    <a:pt x="1040333" y="360172"/>
                  </a:lnTo>
                  <a:lnTo>
                    <a:pt x="1070343" y="392214"/>
                  </a:lnTo>
                  <a:lnTo>
                    <a:pt x="1106030" y="417791"/>
                  </a:lnTo>
                  <a:lnTo>
                    <a:pt x="1146022" y="435914"/>
                  </a:lnTo>
                  <a:lnTo>
                    <a:pt x="1188770" y="445871"/>
                  </a:lnTo>
                  <a:lnTo>
                    <a:pt x="1210678" y="447675"/>
                  </a:lnTo>
                  <a:lnTo>
                    <a:pt x="1234871" y="447675"/>
                  </a:lnTo>
                  <a:lnTo>
                    <a:pt x="1278394" y="441947"/>
                  </a:lnTo>
                  <a:lnTo>
                    <a:pt x="1319961" y="427824"/>
                  </a:lnTo>
                  <a:lnTo>
                    <a:pt x="1357985" y="405879"/>
                  </a:lnTo>
                  <a:lnTo>
                    <a:pt x="1390992" y="376936"/>
                  </a:lnTo>
                  <a:lnTo>
                    <a:pt x="1417726" y="342099"/>
                  </a:lnTo>
                  <a:lnTo>
                    <a:pt x="1437144" y="302729"/>
                  </a:lnTo>
                  <a:lnTo>
                    <a:pt x="1445247" y="276225"/>
                  </a:lnTo>
                  <a:lnTo>
                    <a:pt x="2447925" y="276225"/>
                  </a:lnTo>
                  <a:lnTo>
                    <a:pt x="2447925" y="249085"/>
                  </a:lnTo>
                  <a:close/>
                </a:path>
              </a:pathLst>
            </a:custGeom>
            <a:solidFill>
              <a:srgbClr val="A8F00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756443" y="2038223"/>
            <a:ext cx="2055495" cy="3919854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697230">
              <a:lnSpc>
                <a:spcPct val="103400"/>
              </a:lnSpc>
              <a:spcBef>
                <a:spcPts val="65"/>
              </a:spcBef>
            </a:pPr>
            <a:r>
              <a:rPr dirty="0" sz="1450" spc="345">
                <a:solidFill>
                  <a:srgbClr val="D7E5D8"/>
                </a:solidFill>
                <a:latin typeface="SimSun-ExtB"/>
                <a:cs typeface="SimSun-ExtB"/>
              </a:rPr>
              <a:t>LlalĒorfi </a:t>
            </a:r>
            <a:r>
              <a:rPr dirty="0" sz="1450" spc="395">
                <a:solidFill>
                  <a:srgbClr val="D7E5D8"/>
                </a:solidFill>
                <a:latin typeface="SimSun-ExtB"/>
                <a:cs typeface="SimSun-ExtB"/>
              </a:rPr>
              <a:t>aclio⭲s</a:t>
            </a:r>
            <a:endParaRPr sz="1450">
              <a:latin typeface="SimSun-ExtB"/>
              <a:cs typeface="SimSun-ExtB"/>
            </a:endParaRPr>
          </a:p>
          <a:p>
            <a:pPr marL="12700" marR="5080">
              <a:lnSpc>
                <a:spcPct val="137400"/>
              </a:lnSpc>
              <a:spcBef>
                <a:spcPts val="595"/>
              </a:spcBef>
            </a:pPr>
            <a:r>
              <a:rPr dirty="0" sz="1150" spc="140">
                <a:solidFill>
                  <a:srgbClr val="D7E5D8"/>
                </a:solidFill>
                <a:latin typeface="Microsoft Sans Serif"/>
                <a:cs typeface="Microsoft Sans Serif"/>
              </a:rPr>
              <a:t>-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Ekroǐce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exislikσ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0">
                <a:solidFill>
                  <a:srgbClr val="D7E5D8"/>
                </a:solidFill>
                <a:latin typeface="Microsoft Sans Serif"/>
                <a:cs typeface="Microsoft Sans Serif"/>
              </a:rPr>
              <a:t>Heǐms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or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Seǐvice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pǐoaclivelQ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ǐalheǐ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lhak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ǐelQikσ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ok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useǐ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ǐepoǐls.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-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Requiǐe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veǐiriable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evidekce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or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coksekl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beroǐe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hoslikσ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models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depiclikσ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ǐeal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people.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40">
                <a:solidFill>
                  <a:srgbClr val="D7E5D8"/>
                </a:solidFill>
                <a:latin typeface="Microsoft Sans Serif"/>
                <a:cs typeface="Microsoft Sans Serif"/>
              </a:rPr>
              <a:t>-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Bak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pǐoliric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uploadeǐs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ǐespoksible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hiσh-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volume</a:t>
            </a:r>
            <a:endParaRPr sz="1150">
              <a:latin typeface="Microsoft Sans Serif"/>
              <a:cs typeface="Microsoft Sans Serif"/>
            </a:endParaRPr>
          </a:p>
          <a:p>
            <a:pPr marL="12700" marR="106045">
              <a:lnSpc>
                <a:spcPct val="135900"/>
              </a:lnSpc>
            </a:pP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kok</a:t>
            </a:r>
            <a:r>
              <a:rPr dirty="0" sz="100" spc="6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cokseksual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coklekl.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-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Close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meladala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loopholes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90">
                <a:solidFill>
                  <a:srgbClr val="D7E5D8"/>
                </a:solidFill>
                <a:latin typeface="Microsoft Sans Serif"/>
                <a:cs typeface="Microsoft Sans Serif"/>
              </a:rPr>
              <a:t>bQ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lǐealikσ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lhal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pǐoduce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idekliriable</a:t>
            </a:r>
            <a:r>
              <a:rPr dirty="0" sz="1150" spc="1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likekesses</a:t>
            </a:r>
            <a:r>
              <a:rPr dirty="0" sz="1150" spc="1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as</a:t>
            </a:r>
            <a:endParaRPr sz="1150">
              <a:latin typeface="Microsoft Sans Serif"/>
              <a:cs typeface="Microsoft Sans Serif"/>
            </a:endParaRPr>
          </a:p>
          <a:p>
            <a:pPr marL="12700" marR="189865">
              <a:lnSpc>
                <a:spcPct val="135900"/>
              </a:lnSpc>
              <a:spcBef>
                <a:spcPts val="75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disallowed</a:t>
            </a:r>
            <a:r>
              <a:rPr dirty="0" sz="1150" spc="1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ukless</a:t>
            </a:r>
            <a:r>
              <a:rPr dirty="0" sz="1150" spc="114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coksekl</a:t>
            </a:r>
            <a:r>
              <a:rPr dirty="0" sz="1150" spc="1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is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demokslǐaled.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190874" y="1466850"/>
            <a:ext cx="2447925" cy="4686300"/>
            <a:chOff x="3190874" y="1466850"/>
            <a:chExt cx="2447925" cy="4686300"/>
          </a:xfrm>
        </p:grpSpPr>
        <p:sp>
          <p:nvSpPr>
            <p:cNvPr id="10" name="object 10" descr=""/>
            <p:cNvSpPr/>
            <p:nvPr/>
          </p:nvSpPr>
          <p:spPr>
            <a:xfrm>
              <a:off x="3200400" y="1685925"/>
              <a:ext cx="2428875" cy="4457700"/>
            </a:xfrm>
            <a:custGeom>
              <a:avLst/>
              <a:gdLst/>
              <a:ahLst/>
              <a:cxnLst/>
              <a:rect l="l" t="t" r="r" b="b"/>
              <a:pathLst>
                <a:path w="2428875" h="4457700">
                  <a:moveTo>
                    <a:pt x="2366581" y="0"/>
                  </a:moveTo>
                  <a:lnTo>
                    <a:pt x="62293" y="0"/>
                  </a:lnTo>
                  <a:lnTo>
                    <a:pt x="57962" y="495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4414716"/>
                  </a:lnTo>
                  <a:lnTo>
                    <a:pt x="0" y="4420416"/>
                  </a:lnTo>
                  <a:lnTo>
                    <a:pt x="21272" y="4452245"/>
                  </a:lnTo>
                  <a:lnTo>
                    <a:pt x="37287" y="4457697"/>
                  </a:lnTo>
                  <a:lnTo>
                    <a:pt x="2391587" y="4457697"/>
                  </a:lnTo>
                  <a:lnTo>
                    <a:pt x="2423426" y="4436430"/>
                  </a:lnTo>
                  <a:lnTo>
                    <a:pt x="2428875" y="4420416"/>
                  </a:lnTo>
                  <a:lnTo>
                    <a:pt x="2428875" y="71196"/>
                  </a:lnTo>
                  <a:lnTo>
                    <a:pt x="2415209" y="29705"/>
                  </a:lnTo>
                  <a:lnTo>
                    <a:pt x="2383675" y="3886"/>
                  </a:lnTo>
                  <a:lnTo>
                    <a:pt x="2370912" y="495"/>
                  </a:lnTo>
                  <a:lnTo>
                    <a:pt x="2366581" y="0"/>
                  </a:lnTo>
                  <a:close/>
                </a:path>
              </a:pathLst>
            </a:custGeom>
            <a:solidFill>
              <a:srgbClr val="151F24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90862" y="1686775"/>
              <a:ext cx="2447925" cy="4466590"/>
            </a:xfrm>
            <a:custGeom>
              <a:avLst/>
              <a:gdLst/>
              <a:ahLst/>
              <a:cxnLst/>
              <a:rect l="l" t="t" r="r" b="b"/>
              <a:pathLst>
                <a:path w="2447925" h="4466590">
                  <a:moveTo>
                    <a:pt x="2447925" y="75361"/>
                  </a:moveTo>
                  <a:lnTo>
                    <a:pt x="2435098" y="33020"/>
                  </a:lnTo>
                  <a:lnTo>
                    <a:pt x="2400884" y="4965"/>
                  </a:lnTo>
                  <a:lnTo>
                    <a:pt x="2382494" y="0"/>
                  </a:lnTo>
                  <a:lnTo>
                    <a:pt x="2386596" y="1092"/>
                  </a:lnTo>
                  <a:lnTo>
                    <a:pt x="2400592" y="8826"/>
                  </a:lnTo>
                  <a:lnTo>
                    <a:pt x="2424519" y="46202"/>
                  </a:lnTo>
                  <a:lnTo>
                    <a:pt x="2428875" y="75361"/>
                  </a:lnTo>
                  <a:lnTo>
                    <a:pt x="2428875" y="4413872"/>
                  </a:lnTo>
                  <a:lnTo>
                    <a:pt x="2418562" y="4437964"/>
                  </a:lnTo>
                  <a:lnTo>
                    <a:pt x="2413927" y="4441812"/>
                  </a:lnTo>
                  <a:lnTo>
                    <a:pt x="2408263" y="4444885"/>
                  </a:lnTo>
                  <a:lnTo>
                    <a:pt x="2402103" y="4446714"/>
                  </a:lnTo>
                  <a:lnTo>
                    <a:pt x="2395423" y="4447324"/>
                  </a:lnTo>
                  <a:lnTo>
                    <a:pt x="52501" y="4447324"/>
                  </a:lnTo>
                  <a:lnTo>
                    <a:pt x="45834" y="4446714"/>
                  </a:lnTo>
                  <a:lnTo>
                    <a:pt x="39662" y="4444885"/>
                  </a:lnTo>
                  <a:lnTo>
                    <a:pt x="34010" y="4441812"/>
                  </a:lnTo>
                  <a:lnTo>
                    <a:pt x="29362" y="4437977"/>
                  </a:lnTo>
                  <a:lnTo>
                    <a:pt x="28854" y="4437532"/>
                  </a:lnTo>
                  <a:lnTo>
                    <a:pt x="24561" y="4432376"/>
                  </a:lnTo>
                  <a:lnTo>
                    <a:pt x="21501" y="4426712"/>
                  </a:lnTo>
                  <a:lnTo>
                    <a:pt x="19672" y="4420552"/>
                  </a:lnTo>
                  <a:lnTo>
                    <a:pt x="19050" y="4413872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4420832"/>
                  </a:lnTo>
                  <a:lnTo>
                    <a:pt x="1333" y="4427537"/>
                  </a:lnTo>
                  <a:lnTo>
                    <a:pt x="6667" y="4440402"/>
                  </a:lnTo>
                  <a:lnTo>
                    <a:pt x="10452" y="4446079"/>
                  </a:lnTo>
                  <a:lnTo>
                    <a:pt x="15379" y="4451007"/>
                  </a:lnTo>
                  <a:lnTo>
                    <a:pt x="20294" y="4455922"/>
                  </a:lnTo>
                  <a:lnTo>
                    <a:pt x="25984" y="4459719"/>
                  </a:lnTo>
                  <a:lnTo>
                    <a:pt x="38849" y="4465053"/>
                  </a:lnTo>
                  <a:lnTo>
                    <a:pt x="45542" y="4466374"/>
                  </a:lnTo>
                  <a:lnTo>
                    <a:pt x="2402382" y="4466374"/>
                  </a:lnTo>
                  <a:lnTo>
                    <a:pt x="2409075" y="4465053"/>
                  </a:lnTo>
                  <a:lnTo>
                    <a:pt x="2421940" y="4459719"/>
                  </a:lnTo>
                  <a:lnTo>
                    <a:pt x="2427617" y="4455922"/>
                  </a:lnTo>
                  <a:lnTo>
                    <a:pt x="2432062" y="4451477"/>
                  </a:lnTo>
                  <a:lnTo>
                    <a:pt x="2432545" y="4451007"/>
                  </a:lnTo>
                  <a:lnTo>
                    <a:pt x="2437473" y="4446079"/>
                  </a:lnTo>
                  <a:lnTo>
                    <a:pt x="2441257" y="4440402"/>
                  </a:lnTo>
                  <a:lnTo>
                    <a:pt x="2446591" y="4427537"/>
                  </a:lnTo>
                  <a:lnTo>
                    <a:pt x="2447925" y="4420832"/>
                  </a:lnTo>
                  <a:lnTo>
                    <a:pt x="2447925" y="75361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90875" y="1466850"/>
              <a:ext cx="2447925" cy="447675"/>
            </a:xfrm>
            <a:custGeom>
              <a:avLst/>
              <a:gdLst/>
              <a:ahLst/>
              <a:cxnLst/>
              <a:rect l="l" t="t" r="r" b="b"/>
              <a:pathLst>
                <a:path w="2447925" h="447675">
                  <a:moveTo>
                    <a:pt x="2447925" y="249085"/>
                  </a:moveTo>
                  <a:lnTo>
                    <a:pt x="2430107" y="212966"/>
                  </a:lnTo>
                  <a:lnTo>
                    <a:pt x="2398865" y="200025"/>
                  </a:lnTo>
                  <a:lnTo>
                    <a:pt x="1450098" y="200025"/>
                  </a:lnTo>
                  <a:lnTo>
                    <a:pt x="1449578" y="194602"/>
                  </a:lnTo>
                  <a:lnTo>
                    <a:pt x="1439608" y="151841"/>
                  </a:lnTo>
                  <a:lnTo>
                    <a:pt x="1421485" y="111861"/>
                  </a:lnTo>
                  <a:lnTo>
                    <a:pt x="1395907" y="76161"/>
                  </a:lnTo>
                  <a:lnTo>
                    <a:pt x="1363865" y="46164"/>
                  </a:lnTo>
                  <a:lnTo>
                    <a:pt x="1326578" y="22974"/>
                  </a:lnTo>
                  <a:lnTo>
                    <a:pt x="1285494" y="7505"/>
                  </a:lnTo>
                  <a:lnTo>
                    <a:pt x="1242174" y="355"/>
                  </a:lnTo>
                  <a:lnTo>
                    <a:pt x="1234871" y="0"/>
                  </a:lnTo>
                  <a:lnTo>
                    <a:pt x="1220203" y="0"/>
                  </a:lnTo>
                  <a:lnTo>
                    <a:pt x="1176680" y="5727"/>
                  </a:lnTo>
                  <a:lnTo>
                    <a:pt x="1135100" y="19850"/>
                  </a:lnTo>
                  <a:lnTo>
                    <a:pt x="1097076" y="41795"/>
                  </a:lnTo>
                  <a:lnTo>
                    <a:pt x="1064069" y="70751"/>
                  </a:lnTo>
                  <a:lnTo>
                    <a:pt x="1037348" y="105575"/>
                  </a:lnTo>
                  <a:lnTo>
                    <a:pt x="1017930" y="144957"/>
                  </a:lnTo>
                  <a:lnTo>
                    <a:pt x="1006563" y="187363"/>
                  </a:lnTo>
                  <a:lnTo>
                    <a:pt x="1004951" y="200025"/>
                  </a:lnTo>
                  <a:lnTo>
                    <a:pt x="49060" y="200025"/>
                  </a:lnTo>
                  <a:lnTo>
                    <a:pt x="45643" y="200355"/>
                  </a:lnTo>
                  <a:lnTo>
                    <a:pt x="42265" y="201041"/>
                  </a:lnTo>
                  <a:lnTo>
                    <a:pt x="38874" y="201701"/>
                  </a:lnTo>
                  <a:lnTo>
                    <a:pt x="6934" y="226225"/>
                  </a:lnTo>
                  <a:lnTo>
                    <a:pt x="0" y="249085"/>
                  </a:lnTo>
                  <a:lnTo>
                    <a:pt x="0" y="276225"/>
                  </a:lnTo>
                  <a:lnTo>
                    <a:pt x="1009802" y="276225"/>
                  </a:lnTo>
                  <a:lnTo>
                    <a:pt x="1011212" y="281800"/>
                  </a:lnTo>
                  <a:lnTo>
                    <a:pt x="1026668" y="322884"/>
                  </a:lnTo>
                  <a:lnTo>
                    <a:pt x="1049858" y="360172"/>
                  </a:lnTo>
                  <a:lnTo>
                    <a:pt x="1079868" y="392214"/>
                  </a:lnTo>
                  <a:lnTo>
                    <a:pt x="1115555" y="417791"/>
                  </a:lnTo>
                  <a:lnTo>
                    <a:pt x="1155547" y="435914"/>
                  </a:lnTo>
                  <a:lnTo>
                    <a:pt x="1198295" y="445871"/>
                  </a:lnTo>
                  <a:lnTo>
                    <a:pt x="1220203" y="447675"/>
                  </a:lnTo>
                  <a:lnTo>
                    <a:pt x="1234871" y="447675"/>
                  </a:lnTo>
                  <a:lnTo>
                    <a:pt x="1278394" y="441947"/>
                  </a:lnTo>
                  <a:lnTo>
                    <a:pt x="1319961" y="427824"/>
                  </a:lnTo>
                  <a:lnTo>
                    <a:pt x="1357985" y="405879"/>
                  </a:lnTo>
                  <a:lnTo>
                    <a:pt x="1390992" y="376936"/>
                  </a:lnTo>
                  <a:lnTo>
                    <a:pt x="1417726" y="342099"/>
                  </a:lnTo>
                  <a:lnTo>
                    <a:pt x="1437144" y="302729"/>
                  </a:lnTo>
                  <a:lnTo>
                    <a:pt x="1445247" y="276225"/>
                  </a:lnTo>
                  <a:lnTo>
                    <a:pt x="2447925" y="276225"/>
                  </a:lnTo>
                  <a:lnTo>
                    <a:pt x="2447925" y="249085"/>
                  </a:lnTo>
                  <a:close/>
                </a:path>
              </a:pathLst>
            </a:custGeom>
            <a:solidFill>
              <a:srgbClr val="A8F00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351414" y="2038223"/>
            <a:ext cx="2120265" cy="27197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439420">
              <a:lnSpc>
                <a:spcPct val="103400"/>
              </a:lnSpc>
              <a:spcBef>
                <a:spcPts val="65"/>
              </a:spcBef>
            </a:pPr>
            <a:r>
              <a:rPr dirty="0" sz="1450" spc="590">
                <a:solidFill>
                  <a:srgbClr val="D7E5D8"/>
                </a:solidFill>
                <a:latin typeface="SimSun-ExtB"/>
                <a:cs typeface="SimSun-ExtB"/>
              </a:rPr>
              <a:t>Reveloper </a:t>
            </a:r>
            <a:r>
              <a:rPr dirty="0" sz="1450" spc="285">
                <a:solidFill>
                  <a:srgbClr val="D7E5D8"/>
                </a:solidFill>
                <a:latin typeface="SimSun-ExtB"/>
                <a:cs typeface="SimSun-ExtB"/>
              </a:rPr>
              <a:t>fiiligalio⭲s</a:t>
            </a:r>
            <a:endParaRPr sz="1450">
              <a:latin typeface="SimSun-ExtB"/>
              <a:cs typeface="SimSun-ExtB"/>
            </a:endParaRPr>
          </a:p>
          <a:p>
            <a:pPr marL="12700" marR="5080">
              <a:lnSpc>
                <a:spcPct val="137200"/>
              </a:lnSpc>
              <a:spcBef>
                <a:spcPts val="595"/>
              </a:spcBef>
            </a:pPr>
            <a:r>
              <a:rPr dirty="0" sz="1150" spc="140">
                <a:solidFill>
                  <a:srgbClr val="D7E5D8"/>
                </a:solidFill>
                <a:latin typeface="Microsoft Sans Serif"/>
                <a:cs typeface="Microsoft Sans Serif"/>
              </a:rPr>
              <a:t>-</a:t>
            </a:r>
            <a:r>
              <a:rPr dirty="0" sz="1150" spc="-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Ikleσǐale</a:t>
            </a:r>
            <a:r>
              <a:rPr dirty="0" sz="1150" spc="-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waleǐmaǐkikσ</a:t>
            </a:r>
            <a:r>
              <a:rPr dirty="0" sz="1150" spc="-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akd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pǐovekakce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meladala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iklo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ǐeleases.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40">
                <a:solidFill>
                  <a:srgbClr val="D7E5D8"/>
                </a:solidFill>
                <a:latin typeface="Microsoft Sans Serif"/>
                <a:cs typeface="Microsoft Sans Serif"/>
              </a:rPr>
              <a:t>-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Haǐdek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sarelQ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rilleǐs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duǐikσ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pǐe</a:t>
            </a:r>
            <a:r>
              <a:rPr dirty="0" sz="100" spc="5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lǐaikikσ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5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rike</a:t>
            </a:r>
            <a:r>
              <a:rPr dirty="0" sz="100" spc="1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lukikσ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lo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ǐeduce</a:t>
            </a:r>
            <a:r>
              <a:rPr dirty="0" sz="1150" spc="10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sexual 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coklekl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σekeǐaliok.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40">
                <a:solidFill>
                  <a:srgbClr val="D7E5D8"/>
                </a:solidFill>
                <a:latin typeface="Microsoft Sans Serif"/>
                <a:cs typeface="Microsoft Sans Serif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Publish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cleaǐ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usaσe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licekces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coksekl</a:t>
            </a:r>
            <a:r>
              <a:rPr dirty="0" sz="1150" spc="1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ǐequiǐemekls</a:t>
            </a:r>
            <a:r>
              <a:rPr dirty="0" sz="1150" spc="500">
                <a:solidFill>
                  <a:srgbClr val="D7E5D8"/>
                </a:solidFill>
                <a:latin typeface="Microsoft Sans Serif"/>
                <a:cs typeface="Microsoft Sans Serif"/>
              </a:rPr>
              <a:t> 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alokσside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aǐleracls.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791199" y="1466850"/>
            <a:ext cx="2447925" cy="4686300"/>
            <a:chOff x="5791199" y="1466850"/>
            <a:chExt cx="2447925" cy="4686300"/>
          </a:xfrm>
        </p:grpSpPr>
        <p:sp>
          <p:nvSpPr>
            <p:cNvPr id="15" name="object 15" descr=""/>
            <p:cNvSpPr/>
            <p:nvPr/>
          </p:nvSpPr>
          <p:spPr>
            <a:xfrm>
              <a:off x="5800725" y="1685925"/>
              <a:ext cx="2428875" cy="4457700"/>
            </a:xfrm>
            <a:custGeom>
              <a:avLst/>
              <a:gdLst/>
              <a:ahLst/>
              <a:cxnLst/>
              <a:rect l="l" t="t" r="r" b="b"/>
              <a:pathLst>
                <a:path w="2428875" h="4457700">
                  <a:moveTo>
                    <a:pt x="2366581" y="0"/>
                  </a:moveTo>
                  <a:lnTo>
                    <a:pt x="62293" y="0"/>
                  </a:lnTo>
                  <a:lnTo>
                    <a:pt x="57962" y="495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4414716"/>
                  </a:lnTo>
                  <a:lnTo>
                    <a:pt x="0" y="4420416"/>
                  </a:lnTo>
                  <a:lnTo>
                    <a:pt x="21272" y="4452245"/>
                  </a:lnTo>
                  <a:lnTo>
                    <a:pt x="37287" y="4457697"/>
                  </a:lnTo>
                  <a:lnTo>
                    <a:pt x="2391587" y="4457697"/>
                  </a:lnTo>
                  <a:lnTo>
                    <a:pt x="2423414" y="4436430"/>
                  </a:lnTo>
                  <a:lnTo>
                    <a:pt x="2428875" y="4420416"/>
                  </a:lnTo>
                  <a:lnTo>
                    <a:pt x="2428875" y="71196"/>
                  </a:lnTo>
                  <a:lnTo>
                    <a:pt x="2415197" y="29705"/>
                  </a:lnTo>
                  <a:lnTo>
                    <a:pt x="2383675" y="3886"/>
                  </a:lnTo>
                  <a:lnTo>
                    <a:pt x="2370912" y="495"/>
                  </a:lnTo>
                  <a:lnTo>
                    <a:pt x="2366581" y="0"/>
                  </a:lnTo>
                  <a:close/>
                </a:path>
              </a:pathLst>
            </a:custGeom>
            <a:solidFill>
              <a:srgbClr val="151F24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791187" y="1686775"/>
              <a:ext cx="2447925" cy="4466590"/>
            </a:xfrm>
            <a:custGeom>
              <a:avLst/>
              <a:gdLst/>
              <a:ahLst/>
              <a:cxnLst/>
              <a:rect l="l" t="t" r="r" b="b"/>
              <a:pathLst>
                <a:path w="2447925" h="4466590">
                  <a:moveTo>
                    <a:pt x="2447925" y="75361"/>
                  </a:moveTo>
                  <a:lnTo>
                    <a:pt x="2435098" y="33020"/>
                  </a:lnTo>
                  <a:lnTo>
                    <a:pt x="2400884" y="4965"/>
                  </a:lnTo>
                  <a:lnTo>
                    <a:pt x="2382494" y="0"/>
                  </a:lnTo>
                  <a:lnTo>
                    <a:pt x="2386596" y="1092"/>
                  </a:lnTo>
                  <a:lnTo>
                    <a:pt x="2400592" y="8826"/>
                  </a:lnTo>
                  <a:lnTo>
                    <a:pt x="2424519" y="46202"/>
                  </a:lnTo>
                  <a:lnTo>
                    <a:pt x="2428875" y="75361"/>
                  </a:lnTo>
                  <a:lnTo>
                    <a:pt x="2428875" y="4413872"/>
                  </a:lnTo>
                  <a:lnTo>
                    <a:pt x="2418562" y="4437964"/>
                  </a:lnTo>
                  <a:lnTo>
                    <a:pt x="2413927" y="4441812"/>
                  </a:lnTo>
                  <a:lnTo>
                    <a:pt x="2408263" y="4444885"/>
                  </a:lnTo>
                  <a:lnTo>
                    <a:pt x="2402103" y="4446714"/>
                  </a:lnTo>
                  <a:lnTo>
                    <a:pt x="2395423" y="4447324"/>
                  </a:lnTo>
                  <a:lnTo>
                    <a:pt x="52501" y="4447324"/>
                  </a:lnTo>
                  <a:lnTo>
                    <a:pt x="45834" y="4446714"/>
                  </a:lnTo>
                  <a:lnTo>
                    <a:pt x="39662" y="4444885"/>
                  </a:lnTo>
                  <a:lnTo>
                    <a:pt x="34010" y="4441812"/>
                  </a:lnTo>
                  <a:lnTo>
                    <a:pt x="29362" y="4437977"/>
                  </a:lnTo>
                  <a:lnTo>
                    <a:pt x="28854" y="4437532"/>
                  </a:lnTo>
                  <a:lnTo>
                    <a:pt x="24561" y="4432376"/>
                  </a:lnTo>
                  <a:lnTo>
                    <a:pt x="21501" y="4426712"/>
                  </a:lnTo>
                  <a:lnTo>
                    <a:pt x="19672" y="4420552"/>
                  </a:lnTo>
                  <a:lnTo>
                    <a:pt x="19050" y="4413872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4420832"/>
                  </a:lnTo>
                  <a:lnTo>
                    <a:pt x="15379" y="4451007"/>
                  </a:lnTo>
                  <a:lnTo>
                    <a:pt x="20294" y="4455922"/>
                  </a:lnTo>
                  <a:lnTo>
                    <a:pt x="25984" y="4459719"/>
                  </a:lnTo>
                  <a:lnTo>
                    <a:pt x="38849" y="4465053"/>
                  </a:lnTo>
                  <a:lnTo>
                    <a:pt x="45542" y="4466374"/>
                  </a:lnTo>
                  <a:lnTo>
                    <a:pt x="2402382" y="4466374"/>
                  </a:lnTo>
                  <a:lnTo>
                    <a:pt x="2409075" y="4465053"/>
                  </a:lnTo>
                  <a:lnTo>
                    <a:pt x="2421940" y="4459719"/>
                  </a:lnTo>
                  <a:lnTo>
                    <a:pt x="2427617" y="4455922"/>
                  </a:lnTo>
                  <a:lnTo>
                    <a:pt x="2432062" y="4451477"/>
                  </a:lnTo>
                  <a:lnTo>
                    <a:pt x="2432545" y="4451007"/>
                  </a:lnTo>
                  <a:lnTo>
                    <a:pt x="2437473" y="4446079"/>
                  </a:lnTo>
                  <a:lnTo>
                    <a:pt x="2441257" y="4440402"/>
                  </a:lnTo>
                  <a:lnTo>
                    <a:pt x="2446591" y="4427537"/>
                  </a:lnTo>
                  <a:lnTo>
                    <a:pt x="2447925" y="4420832"/>
                  </a:lnTo>
                  <a:lnTo>
                    <a:pt x="2447925" y="75361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791200" y="1466850"/>
              <a:ext cx="2447925" cy="447675"/>
            </a:xfrm>
            <a:custGeom>
              <a:avLst/>
              <a:gdLst/>
              <a:ahLst/>
              <a:cxnLst/>
              <a:rect l="l" t="t" r="r" b="b"/>
              <a:pathLst>
                <a:path w="2447925" h="447675">
                  <a:moveTo>
                    <a:pt x="2447925" y="249085"/>
                  </a:moveTo>
                  <a:lnTo>
                    <a:pt x="2430107" y="212966"/>
                  </a:lnTo>
                  <a:lnTo>
                    <a:pt x="2398865" y="200025"/>
                  </a:lnTo>
                  <a:lnTo>
                    <a:pt x="1440573" y="200025"/>
                  </a:lnTo>
                  <a:lnTo>
                    <a:pt x="1440053" y="194602"/>
                  </a:lnTo>
                  <a:lnTo>
                    <a:pt x="1430083" y="151841"/>
                  </a:lnTo>
                  <a:lnTo>
                    <a:pt x="1411960" y="111861"/>
                  </a:lnTo>
                  <a:lnTo>
                    <a:pt x="1386382" y="76161"/>
                  </a:lnTo>
                  <a:lnTo>
                    <a:pt x="1354340" y="46164"/>
                  </a:lnTo>
                  <a:lnTo>
                    <a:pt x="1317053" y="22974"/>
                  </a:lnTo>
                  <a:lnTo>
                    <a:pt x="1275969" y="7505"/>
                  </a:lnTo>
                  <a:lnTo>
                    <a:pt x="1232649" y="355"/>
                  </a:lnTo>
                  <a:lnTo>
                    <a:pt x="1225346" y="0"/>
                  </a:lnTo>
                  <a:lnTo>
                    <a:pt x="1210678" y="0"/>
                  </a:lnTo>
                  <a:lnTo>
                    <a:pt x="1167155" y="5727"/>
                  </a:lnTo>
                  <a:lnTo>
                    <a:pt x="1125575" y="19850"/>
                  </a:lnTo>
                  <a:lnTo>
                    <a:pt x="1087551" y="41795"/>
                  </a:lnTo>
                  <a:lnTo>
                    <a:pt x="1054544" y="70751"/>
                  </a:lnTo>
                  <a:lnTo>
                    <a:pt x="1027823" y="105575"/>
                  </a:lnTo>
                  <a:lnTo>
                    <a:pt x="1008405" y="144957"/>
                  </a:lnTo>
                  <a:lnTo>
                    <a:pt x="997038" y="187363"/>
                  </a:lnTo>
                  <a:lnTo>
                    <a:pt x="995426" y="200025"/>
                  </a:lnTo>
                  <a:lnTo>
                    <a:pt x="49060" y="200025"/>
                  </a:lnTo>
                  <a:lnTo>
                    <a:pt x="45631" y="200355"/>
                  </a:lnTo>
                  <a:lnTo>
                    <a:pt x="42265" y="201041"/>
                  </a:lnTo>
                  <a:lnTo>
                    <a:pt x="38862" y="201701"/>
                  </a:lnTo>
                  <a:lnTo>
                    <a:pt x="6934" y="226225"/>
                  </a:lnTo>
                  <a:lnTo>
                    <a:pt x="0" y="249085"/>
                  </a:lnTo>
                  <a:lnTo>
                    <a:pt x="0" y="276225"/>
                  </a:lnTo>
                  <a:lnTo>
                    <a:pt x="1000277" y="276225"/>
                  </a:lnTo>
                  <a:lnTo>
                    <a:pt x="1001687" y="281800"/>
                  </a:lnTo>
                  <a:lnTo>
                    <a:pt x="1017143" y="322884"/>
                  </a:lnTo>
                  <a:lnTo>
                    <a:pt x="1040333" y="360172"/>
                  </a:lnTo>
                  <a:lnTo>
                    <a:pt x="1070343" y="392214"/>
                  </a:lnTo>
                  <a:lnTo>
                    <a:pt x="1106030" y="417791"/>
                  </a:lnTo>
                  <a:lnTo>
                    <a:pt x="1146022" y="435914"/>
                  </a:lnTo>
                  <a:lnTo>
                    <a:pt x="1188770" y="445871"/>
                  </a:lnTo>
                  <a:lnTo>
                    <a:pt x="1210678" y="447675"/>
                  </a:lnTo>
                  <a:lnTo>
                    <a:pt x="1225346" y="447675"/>
                  </a:lnTo>
                  <a:lnTo>
                    <a:pt x="1268869" y="441947"/>
                  </a:lnTo>
                  <a:lnTo>
                    <a:pt x="1310436" y="427824"/>
                  </a:lnTo>
                  <a:lnTo>
                    <a:pt x="1348460" y="405879"/>
                  </a:lnTo>
                  <a:lnTo>
                    <a:pt x="1381467" y="376936"/>
                  </a:lnTo>
                  <a:lnTo>
                    <a:pt x="1408201" y="342099"/>
                  </a:lnTo>
                  <a:lnTo>
                    <a:pt x="1427619" y="302729"/>
                  </a:lnTo>
                  <a:lnTo>
                    <a:pt x="1435722" y="276225"/>
                  </a:lnTo>
                  <a:lnTo>
                    <a:pt x="2447925" y="276225"/>
                  </a:lnTo>
                  <a:lnTo>
                    <a:pt x="2447925" y="249085"/>
                  </a:lnTo>
                  <a:close/>
                </a:path>
              </a:pathLst>
            </a:custGeom>
            <a:solidFill>
              <a:srgbClr val="A8F00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946380" y="2038223"/>
            <a:ext cx="2092325" cy="3672204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25"/>
              </a:spcBef>
            </a:pPr>
            <a:r>
              <a:rPr dirty="0" sz="1450" spc="810">
                <a:solidFill>
                  <a:srgbClr val="D7E5D8"/>
                </a:solidFill>
                <a:latin typeface="SimSun-ExtB"/>
                <a:cs typeface="SimSun-ExtB"/>
              </a:rPr>
              <a:t>Reg-</a:t>
            </a:r>
            <a:r>
              <a:rPr dirty="0" sz="1450" spc="375">
                <a:solidFill>
                  <a:srgbClr val="D7E5D8"/>
                </a:solidFill>
                <a:latin typeface="SimSun-ExtB"/>
                <a:cs typeface="SimSun-ExtB"/>
              </a:rPr>
              <a:t>lalorQ </a:t>
            </a:r>
            <a:r>
              <a:rPr dirty="0" sz="1450" spc="550">
                <a:solidFill>
                  <a:srgbClr val="D7E5D8"/>
                </a:solidFill>
                <a:latin typeface="SimSun-ExtB"/>
                <a:cs typeface="SimSun-ExtB"/>
              </a:rPr>
              <a:t>recofifie⭲da </a:t>
            </a:r>
            <a:r>
              <a:rPr dirty="0" sz="1450" spc="245">
                <a:solidFill>
                  <a:srgbClr val="D7E5D8"/>
                </a:solidFill>
                <a:latin typeface="SimSun-ExtB"/>
                <a:cs typeface="SimSun-ExtB"/>
              </a:rPr>
              <a:t>lio⭲s</a:t>
            </a:r>
            <a:endParaRPr sz="1450">
              <a:latin typeface="SimSun-ExtB"/>
              <a:cs typeface="SimSun-ExtB"/>
            </a:endParaRPr>
          </a:p>
          <a:p>
            <a:pPr marL="12700" marR="318770">
              <a:lnSpc>
                <a:spcPct val="135900"/>
              </a:lnSpc>
              <a:spcBef>
                <a:spcPts val="615"/>
              </a:spcBef>
            </a:pPr>
            <a:r>
              <a:rPr dirty="0" sz="1150" spc="140">
                <a:solidFill>
                  <a:srgbClr val="D7E5D8"/>
                </a:solidFill>
                <a:latin typeface="Microsoft Sans Serif"/>
                <a:cs typeface="Microsoft Sans Serif"/>
              </a:rPr>
              <a:t>-</a:t>
            </a:r>
            <a:r>
              <a:rPr dirty="0" sz="1150" spc="-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Haǐσel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cǐealiok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as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well</a:t>
            </a:r>
            <a:r>
              <a:rPr dirty="0" sz="1150" spc="-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as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dissemikaliok</a:t>
            </a:r>
            <a:r>
              <a:rPr dirty="0" sz="1150" spc="1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or</a:t>
            </a:r>
            <a:endParaRPr sz="1150">
              <a:latin typeface="Microsoft Sans Serif"/>
              <a:cs typeface="Microsoft Sans Serif"/>
            </a:endParaRPr>
          </a:p>
          <a:p>
            <a:pPr marL="12700" marR="164465">
              <a:lnSpc>
                <a:spcPct val="135900"/>
              </a:lnSpc>
            </a:pP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kok</a:t>
            </a:r>
            <a:r>
              <a:rPr dirty="0" sz="100" spc="6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cokseksual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deeprakes.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-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Empoweǐ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ǐeσulaloǐs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lo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acl</a:t>
            </a:r>
            <a:endParaRPr sz="1150">
              <a:latin typeface="Microsoft Sans Serif"/>
              <a:cs typeface="Microsoft Sans Serif"/>
            </a:endParaRPr>
          </a:p>
          <a:p>
            <a:pPr marL="12700" marR="41910">
              <a:lnSpc>
                <a:spcPct val="135900"/>
              </a:lnSpc>
              <a:spcBef>
                <a:spcPts val="75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aσaiksl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cǐealoǐs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plalroǐms 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lhal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ekable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laǐσe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scale</a:t>
            </a:r>
            <a:endParaRPr sz="1150">
              <a:latin typeface="Microsoft Sans Serif"/>
              <a:cs typeface="Microsoft Sans Serif"/>
            </a:endParaRPr>
          </a:p>
          <a:p>
            <a:pPr marL="12700" marR="320675">
              <a:lnSpc>
                <a:spcPct val="135900"/>
              </a:lnSpc>
            </a:pP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kok</a:t>
            </a:r>
            <a:r>
              <a:rPr dirty="0" sz="100" spc="6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cokseksual</a:t>
            </a:r>
            <a:r>
              <a:rPr dirty="0" sz="1150" spc="1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model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cǐealiok.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40">
                <a:solidFill>
                  <a:srgbClr val="D7E5D8"/>
                </a:solidFill>
                <a:latin typeface="Microsoft Sans Serif"/>
                <a:cs typeface="Microsoft Sans Serif"/>
              </a:rPr>
              <a:t>-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Haǐmokise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ikleǐkaliokal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slakdaǐds</a:t>
            </a:r>
            <a:r>
              <a:rPr dirty="0" sz="1150" spc="6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endParaRPr sz="1150">
              <a:latin typeface="Microsoft Sans Serif"/>
              <a:cs typeface="Microsoft Sans Serif"/>
            </a:endParaRPr>
          </a:p>
          <a:p>
            <a:pPr marL="12700" marR="589915">
              <a:lnSpc>
                <a:spcPct val="135900"/>
              </a:lnSpc>
              <a:spcBef>
                <a:spcPts val="75"/>
              </a:spcBef>
            </a:pP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pǐovekakce,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coksekl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veǐiricaliok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model lǐakspaǐekcQ.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8381999" y="1466850"/>
            <a:ext cx="2447925" cy="4686300"/>
            <a:chOff x="8381999" y="1466850"/>
            <a:chExt cx="2447925" cy="4686300"/>
          </a:xfrm>
        </p:grpSpPr>
        <p:sp>
          <p:nvSpPr>
            <p:cNvPr id="20" name="object 20" descr=""/>
            <p:cNvSpPr/>
            <p:nvPr/>
          </p:nvSpPr>
          <p:spPr>
            <a:xfrm>
              <a:off x="8391524" y="1685925"/>
              <a:ext cx="2428875" cy="4457700"/>
            </a:xfrm>
            <a:custGeom>
              <a:avLst/>
              <a:gdLst/>
              <a:ahLst/>
              <a:cxnLst/>
              <a:rect l="l" t="t" r="r" b="b"/>
              <a:pathLst>
                <a:path w="2428875" h="4457700">
                  <a:moveTo>
                    <a:pt x="2366581" y="0"/>
                  </a:moveTo>
                  <a:lnTo>
                    <a:pt x="62293" y="0"/>
                  </a:lnTo>
                  <a:lnTo>
                    <a:pt x="57962" y="495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4414716"/>
                  </a:lnTo>
                  <a:lnTo>
                    <a:pt x="0" y="4420416"/>
                  </a:lnTo>
                  <a:lnTo>
                    <a:pt x="21272" y="4452245"/>
                  </a:lnTo>
                  <a:lnTo>
                    <a:pt x="37287" y="4457697"/>
                  </a:lnTo>
                  <a:lnTo>
                    <a:pt x="2391587" y="4457697"/>
                  </a:lnTo>
                  <a:lnTo>
                    <a:pt x="2423426" y="4436430"/>
                  </a:lnTo>
                  <a:lnTo>
                    <a:pt x="2428875" y="4420416"/>
                  </a:lnTo>
                  <a:lnTo>
                    <a:pt x="2428875" y="71196"/>
                  </a:lnTo>
                  <a:lnTo>
                    <a:pt x="2415209" y="29705"/>
                  </a:lnTo>
                  <a:lnTo>
                    <a:pt x="2383675" y="3886"/>
                  </a:lnTo>
                  <a:lnTo>
                    <a:pt x="2370912" y="495"/>
                  </a:lnTo>
                  <a:lnTo>
                    <a:pt x="2366581" y="0"/>
                  </a:lnTo>
                  <a:close/>
                </a:path>
              </a:pathLst>
            </a:custGeom>
            <a:solidFill>
              <a:srgbClr val="151F24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381987" y="1686775"/>
              <a:ext cx="2447925" cy="4466590"/>
            </a:xfrm>
            <a:custGeom>
              <a:avLst/>
              <a:gdLst/>
              <a:ahLst/>
              <a:cxnLst/>
              <a:rect l="l" t="t" r="r" b="b"/>
              <a:pathLst>
                <a:path w="2447925" h="4466590">
                  <a:moveTo>
                    <a:pt x="2447925" y="75361"/>
                  </a:moveTo>
                  <a:lnTo>
                    <a:pt x="2435098" y="33020"/>
                  </a:lnTo>
                  <a:lnTo>
                    <a:pt x="2400884" y="4965"/>
                  </a:lnTo>
                  <a:lnTo>
                    <a:pt x="2382482" y="0"/>
                  </a:lnTo>
                  <a:lnTo>
                    <a:pt x="2386596" y="1092"/>
                  </a:lnTo>
                  <a:lnTo>
                    <a:pt x="2400592" y="8826"/>
                  </a:lnTo>
                  <a:lnTo>
                    <a:pt x="2424519" y="46202"/>
                  </a:lnTo>
                  <a:lnTo>
                    <a:pt x="2428875" y="75361"/>
                  </a:lnTo>
                  <a:lnTo>
                    <a:pt x="2428875" y="4413872"/>
                  </a:lnTo>
                  <a:lnTo>
                    <a:pt x="2418562" y="4437964"/>
                  </a:lnTo>
                  <a:lnTo>
                    <a:pt x="2413927" y="4441812"/>
                  </a:lnTo>
                  <a:lnTo>
                    <a:pt x="2408263" y="4444885"/>
                  </a:lnTo>
                  <a:lnTo>
                    <a:pt x="2402103" y="4446714"/>
                  </a:lnTo>
                  <a:lnTo>
                    <a:pt x="2395423" y="4447324"/>
                  </a:lnTo>
                  <a:lnTo>
                    <a:pt x="52501" y="4447324"/>
                  </a:lnTo>
                  <a:lnTo>
                    <a:pt x="45834" y="4446714"/>
                  </a:lnTo>
                  <a:lnTo>
                    <a:pt x="39662" y="4444885"/>
                  </a:lnTo>
                  <a:lnTo>
                    <a:pt x="34010" y="4441812"/>
                  </a:lnTo>
                  <a:lnTo>
                    <a:pt x="29362" y="4437977"/>
                  </a:lnTo>
                  <a:lnTo>
                    <a:pt x="28854" y="4437532"/>
                  </a:lnTo>
                  <a:lnTo>
                    <a:pt x="24561" y="4432376"/>
                  </a:lnTo>
                  <a:lnTo>
                    <a:pt x="21501" y="4426712"/>
                  </a:lnTo>
                  <a:lnTo>
                    <a:pt x="19672" y="4420552"/>
                  </a:lnTo>
                  <a:lnTo>
                    <a:pt x="19050" y="4413872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4420832"/>
                  </a:lnTo>
                  <a:lnTo>
                    <a:pt x="1333" y="4427537"/>
                  </a:lnTo>
                  <a:lnTo>
                    <a:pt x="6654" y="4440402"/>
                  </a:lnTo>
                  <a:lnTo>
                    <a:pt x="10452" y="4446079"/>
                  </a:lnTo>
                  <a:lnTo>
                    <a:pt x="15379" y="4451007"/>
                  </a:lnTo>
                  <a:lnTo>
                    <a:pt x="20294" y="4455922"/>
                  </a:lnTo>
                  <a:lnTo>
                    <a:pt x="25984" y="4459719"/>
                  </a:lnTo>
                  <a:lnTo>
                    <a:pt x="38849" y="4465053"/>
                  </a:lnTo>
                  <a:lnTo>
                    <a:pt x="45542" y="4466374"/>
                  </a:lnTo>
                  <a:lnTo>
                    <a:pt x="2402382" y="4466374"/>
                  </a:lnTo>
                  <a:lnTo>
                    <a:pt x="2409075" y="4465053"/>
                  </a:lnTo>
                  <a:lnTo>
                    <a:pt x="2421940" y="4459719"/>
                  </a:lnTo>
                  <a:lnTo>
                    <a:pt x="2427617" y="4455922"/>
                  </a:lnTo>
                  <a:lnTo>
                    <a:pt x="2432062" y="4451477"/>
                  </a:lnTo>
                  <a:lnTo>
                    <a:pt x="2432545" y="4451007"/>
                  </a:lnTo>
                  <a:lnTo>
                    <a:pt x="2437473" y="4446079"/>
                  </a:lnTo>
                  <a:lnTo>
                    <a:pt x="2441257" y="4440402"/>
                  </a:lnTo>
                  <a:lnTo>
                    <a:pt x="2446591" y="4427537"/>
                  </a:lnTo>
                  <a:lnTo>
                    <a:pt x="2447925" y="4420832"/>
                  </a:lnTo>
                  <a:lnTo>
                    <a:pt x="2447925" y="75361"/>
                  </a:lnTo>
                  <a:close/>
                </a:path>
              </a:pathLst>
            </a:custGeom>
            <a:solidFill>
              <a:srgbClr val="6D90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382000" y="1466850"/>
              <a:ext cx="2447925" cy="447675"/>
            </a:xfrm>
            <a:custGeom>
              <a:avLst/>
              <a:gdLst/>
              <a:ahLst/>
              <a:cxnLst/>
              <a:rect l="l" t="t" r="r" b="b"/>
              <a:pathLst>
                <a:path w="2447925" h="447675">
                  <a:moveTo>
                    <a:pt x="2447925" y="249085"/>
                  </a:moveTo>
                  <a:lnTo>
                    <a:pt x="2430094" y="212966"/>
                  </a:lnTo>
                  <a:lnTo>
                    <a:pt x="2398865" y="200025"/>
                  </a:lnTo>
                  <a:lnTo>
                    <a:pt x="1450098" y="200025"/>
                  </a:lnTo>
                  <a:lnTo>
                    <a:pt x="1449578" y="194602"/>
                  </a:lnTo>
                  <a:lnTo>
                    <a:pt x="1439608" y="151841"/>
                  </a:lnTo>
                  <a:lnTo>
                    <a:pt x="1421485" y="111861"/>
                  </a:lnTo>
                  <a:lnTo>
                    <a:pt x="1395907" y="76161"/>
                  </a:lnTo>
                  <a:lnTo>
                    <a:pt x="1363865" y="46164"/>
                  </a:lnTo>
                  <a:lnTo>
                    <a:pt x="1326578" y="22974"/>
                  </a:lnTo>
                  <a:lnTo>
                    <a:pt x="1285494" y="7505"/>
                  </a:lnTo>
                  <a:lnTo>
                    <a:pt x="1242174" y="355"/>
                  </a:lnTo>
                  <a:lnTo>
                    <a:pt x="1234871" y="0"/>
                  </a:lnTo>
                  <a:lnTo>
                    <a:pt x="1220203" y="0"/>
                  </a:lnTo>
                  <a:lnTo>
                    <a:pt x="1176680" y="5727"/>
                  </a:lnTo>
                  <a:lnTo>
                    <a:pt x="1135100" y="19850"/>
                  </a:lnTo>
                  <a:lnTo>
                    <a:pt x="1097076" y="41795"/>
                  </a:lnTo>
                  <a:lnTo>
                    <a:pt x="1064069" y="70751"/>
                  </a:lnTo>
                  <a:lnTo>
                    <a:pt x="1037348" y="105575"/>
                  </a:lnTo>
                  <a:lnTo>
                    <a:pt x="1017930" y="144957"/>
                  </a:lnTo>
                  <a:lnTo>
                    <a:pt x="1006563" y="187363"/>
                  </a:lnTo>
                  <a:lnTo>
                    <a:pt x="1004951" y="200025"/>
                  </a:lnTo>
                  <a:lnTo>
                    <a:pt x="49060" y="200025"/>
                  </a:lnTo>
                  <a:lnTo>
                    <a:pt x="45643" y="200355"/>
                  </a:lnTo>
                  <a:lnTo>
                    <a:pt x="42265" y="201041"/>
                  </a:lnTo>
                  <a:lnTo>
                    <a:pt x="38874" y="201701"/>
                  </a:lnTo>
                  <a:lnTo>
                    <a:pt x="6934" y="226225"/>
                  </a:lnTo>
                  <a:lnTo>
                    <a:pt x="0" y="249085"/>
                  </a:lnTo>
                  <a:lnTo>
                    <a:pt x="0" y="276225"/>
                  </a:lnTo>
                  <a:lnTo>
                    <a:pt x="1009802" y="276225"/>
                  </a:lnTo>
                  <a:lnTo>
                    <a:pt x="1011212" y="281800"/>
                  </a:lnTo>
                  <a:lnTo>
                    <a:pt x="1026668" y="322884"/>
                  </a:lnTo>
                  <a:lnTo>
                    <a:pt x="1049858" y="360172"/>
                  </a:lnTo>
                  <a:lnTo>
                    <a:pt x="1079868" y="392214"/>
                  </a:lnTo>
                  <a:lnTo>
                    <a:pt x="1115555" y="417791"/>
                  </a:lnTo>
                  <a:lnTo>
                    <a:pt x="1155547" y="435914"/>
                  </a:lnTo>
                  <a:lnTo>
                    <a:pt x="1198295" y="445871"/>
                  </a:lnTo>
                  <a:lnTo>
                    <a:pt x="1220203" y="447675"/>
                  </a:lnTo>
                  <a:lnTo>
                    <a:pt x="1234871" y="447675"/>
                  </a:lnTo>
                  <a:lnTo>
                    <a:pt x="1278394" y="441947"/>
                  </a:lnTo>
                  <a:lnTo>
                    <a:pt x="1319961" y="427824"/>
                  </a:lnTo>
                  <a:lnTo>
                    <a:pt x="1357985" y="405879"/>
                  </a:lnTo>
                  <a:lnTo>
                    <a:pt x="1390992" y="376936"/>
                  </a:lnTo>
                  <a:lnTo>
                    <a:pt x="1417726" y="342099"/>
                  </a:lnTo>
                  <a:lnTo>
                    <a:pt x="1437144" y="302729"/>
                  </a:lnTo>
                  <a:lnTo>
                    <a:pt x="1445247" y="276225"/>
                  </a:lnTo>
                  <a:lnTo>
                    <a:pt x="2447925" y="276225"/>
                  </a:lnTo>
                  <a:lnTo>
                    <a:pt x="2447925" y="249085"/>
                  </a:lnTo>
                  <a:close/>
                </a:path>
              </a:pathLst>
            </a:custGeom>
            <a:solidFill>
              <a:srgbClr val="A8F00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541346" y="2038223"/>
            <a:ext cx="2098675" cy="32054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285">
                <a:solidFill>
                  <a:srgbClr val="D7E5D8"/>
                </a:solidFill>
                <a:latin typeface="SimSun-ExtB"/>
                <a:cs typeface="SimSun-ExtB"/>
              </a:rPr>
              <a:t>Lifiilalio⭲s</a:t>
            </a:r>
            <a:endParaRPr sz="1450">
              <a:latin typeface="SimSun-ExtB"/>
              <a:cs typeface="SimSun-ExtB"/>
            </a:endParaRPr>
          </a:p>
          <a:p>
            <a:pPr marL="12700" marR="5080">
              <a:lnSpc>
                <a:spcPct val="136900"/>
              </a:lnSpc>
              <a:spcBef>
                <a:spcPts val="600"/>
              </a:spcBef>
            </a:pPr>
            <a:r>
              <a:rPr dirty="0" sz="1150" spc="140">
                <a:solidFill>
                  <a:srgbClr val="D7E5D8"/>
                </a:solidFill>
                <a:latin typeface="Microsoft Sans Serif"/>
                <a:cs typeface="Microsoft Sans Serif"/>
              </a:rPr>
              <a:t>-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6kalQsis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ǐeslǐicled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lo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publiclQ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models;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pǐivale/closed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commukilies </a:t>
            </a:r>
            <a:r>
              <a:rPr dirty="0" sz="1150" spc="-55">
                <a:solidFill>
                  <a:srgbClr val="D7E5D8"/>
                </a:solidFill>
                <a:latin typeface="Microsoft Sans Serif"/>
                <a:cs typeface="Microsoft Sans Serif"/>
              </a:rPr>
              <a:t>likelQ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hold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addiliokal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models.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-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Makual</a:t>
            </a:r>
            <a:r>
              <a:rPr dirty="0" sz="1150" spc="1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labellikσ</a:t>
            </a:r>
            <a:r>
              <a:rPr dirty="0" sz="1150" spc="1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iklǐoduces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subjeclive</a:t>
            </a:r>
            <a:r>
              <a:rPr dirty="0" sz="1150" spc="1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judσemekl;</a:t>
            </a:r>
            <a:r>
              <a:rPr dirty="0" sz="1150" spc="5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peǐceived</a:t>
            </a:r>
            <a:r>
              <a:rPr dirty="0" sz="1150" spc="1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σekdeǐ</a:t>
            </a:r>
            <a:r>
              <a:rPr dirty="0" sz="1150" spc="1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akd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idekliriabililQ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aǐe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impeǐrecl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pǐoxies.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40">
                <a:solidFill>
                  <a:srgbClr val="D7E5D8"/>
                </a:solidFill>
                <a:latin typeface="Microsoft Sans Serif"/>
                <a:cs typeface="Microsoft Sans Serif"/>
              </a:rPr>
              <a:t>-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Fikdikσs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ǐerlecl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lhe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slale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or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plalroǐms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up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lo</a:t>
            </a:r>
            <a:r>
              <a:rPr dirty="0" sz="1150" spc="-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Dec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202į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70">
                <a:solidFill>
                  <a:srgbClr val="D7E5D8"/>
                </a:solidFill>
                <a:latin typeface="Microsoft Sans Serif"/>
                <a:cs typeface="Microsoft Sans Serif"/>
              </a:rPr>
              <a:t>maQ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chakσe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wilh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kew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policies</a:t>
            </a:r>
            <a:r>
              <a:rPr dirty="0" sz="1150" spc="1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oǐ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ǐeleases.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24" name="object 24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051042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51F24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9739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5"/>
              </a:spcBef>
            </a:pPr>
            <a:r>
              <a:rPr dirty="0" spc="965"/>
              <a:t>Relevance</a:t>
            </a:r>
            <a:r>
              <a:rPr dirty="0" spc="30"/>
              <a:t> </a:t>
            </a:r>
            <a:r>
              <a:rPr dirty="0" spc="800"/>
              <a:t>to</a:t>
            </a:r>
            <a:r>
              <a:rPr dirty="0" spc="35"/>
              <a:t> </a:t>
            </a:r>
            <a:r>
              <a:rPr dirty="0" spc="925"/>
              <a:t>Our</a:t>
            </a:r>
            <a:r>
              <a:rPr dirty="0" spc="30"/>
              <a:t> </a:t>
            </a:r>
            <a:r>
              <a:rPr dirty="0" spc="1010"/>
              <a:t>Research</a:t>
            </a:r>
            <a:r>
              <a:rPr dirty="0" spc="35"/>
              <a:t> </a:t>
            </a:r>
            <a:r>
              <a:rPr dirty="0" spc="944"/>
              <a:t>Cohort</a:t>
            </a:r>
            <a:r>
              <a:rPr dirty="0" spc="30"/>
              <a:t> </a:t>
            </a:r>
            <a:r>
              <a:rPr dirty="0" spc="1160"/>
              <a:t>&amp; </a:t>
            </a:r>
            <a:r>
              <a:rPr dirty="0" spc="885"/>
              <a:t>Discussion</a:t>
            </a:r>
            <a:r>
              <a:rPr dirty="0" spc="55"/>
              <a:t> </a:t>
            </a:r>
            <a:r>
              <a:rPr dirty="0" spc="965"/>
              <a:t>Profipts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7375" y="1846103"/>
            <a:ext cx="10041890" cy="501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 sz="1150" spc="-80">
                <a:solidFill>
                  <a:srgbClr val="D7E5D8"/>
                </a:solidFill>
                <a:latin typeface="Microsoft Sans Serif"/>
                <a:cs typeface="Microsoft Sans Serif"/>
              </a:rPr>
              <a:t>Hhis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papeǐ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pǐovides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cokcǐele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empiǐical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basis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lo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ikleǐǐoσale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lhe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σoveǐkakce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or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opek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6I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ecosQslems,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ceklǐal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lheme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ouǐ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cohoǐl.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Il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cokkecls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lechkical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capabililies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(LoR6,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Flux)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wilh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soci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o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lechkical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oulcomes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(σekdeǐed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haǐms,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plalroǐm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ecokomics,</a:t>
            </a:r>
            <a:r>
              <a:rPr dirty="0" sz="1150" spc="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0">
                <a:solidFill>
                  <a:srgbClr val="D7E5D8"/>
                </a:solidFill>
                <a:latin typeface="Microsoft Sans Serif"/>
                <a:cs typeface="Microsoft Sans Serif"/>
              </a:rPr>
              <a:t>policQ</a:t>
            </a:r>
            <a:r>
              <a:rPr dirty="0" sz="1150" spc="10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σaps).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2619971"/>
            <a:ext cx="76200" cy="762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847725" y="2962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7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67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67" y="0"/>
                </a:lnTo>
                <a:close/>
              </a:path>
            </a:pathLst>
          </a:custGeom>
          <a:solidFill>
            <a:srgbClr val="D7E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47725" y="37338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7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67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67" y="0"/>
                </a:lnTo>
                <a:close/>
              </a:path>
            </a:pathLst>
          </a:custGeom>
          <a:solidFill>
            <a:srgbClr val="D7E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847725" y="42672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7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67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67" y="0"/>
                </a:lnTo>
                <a:close/>
              </a:path>
            </a:pathLst>
          </a:custGeom>
          <a:solidFill>
            <a:srgbClr val="D7E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47725" y="48006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7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67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67" y="0"/>
                </a:lnTo>
                <a:close/>
              </a:path>
            </a:pathLst>
          </a:custGeom>
          <a:solidFill>
            <a:srgbClr val="D7E5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812403" y="2514473"/>
            <a:ext cx="4543425" cy="2643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555" b="1">
                <a:solidFill>
                  <a:srgbClr val="D7E5D8"/>
                </a:solidFill>
                <a:latin typeface="Trebuchet MS"/>
                <a:cs typeface="Trebuchet MS"/>
              </a:rPr>
              <a:t>Discussion</a:t>
            </a:r>
            <a:r>
              <a:rPr dirty="0" sz="1450" spc="40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575" b="1">
                <a:solidFill>
                  <a:srgbClr val="D7E5D8"/>
                </a:solidFill>
                <a:latin typeface="Trebuchet MS"/>
                <a:cs typeface="Trebuchet MS"/>
              </a:rPr>
              <a:t>profipts</a:t>
            </a:r>
            <a:endParaRPr sz="1450">
              <a:latin typeface="Trebuchet MS"/>
              <a:cs typeface="Trebuchet MS"/>
            </a:endParaRPr>
          </a:p>
          <a:p>
            <a:pPr marL="252095" marR="95250">
              <a:lnSpc>
                <a:spcPct val="138600"/>
              </a:lnSpc>
              <a:spcBef>
                <a:spcPts val="575"/>
              </a:spcBef>
            </a:pP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How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should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ǐeseaǐch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commukilies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balakce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opekkess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haǐm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pǐevekliok</a:t>
            </a:r>
            <a:r>
              <a:rPr dirty="0" sz="1150" spc="19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whek</a:t>
            </a:r>
            <a:r>
              <a:rPr dirty="0" sz="1150" spc="1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shaǐikσ</a:t>
            </a:r>
            <a:r>
              <a:rPr dirty="0" sz="1150" spc="1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weiσhls,</a:t>
            </a:r>
            <a:r>
              <a:rPr dirty="0" sz="1150" spc="1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checkpoikls</a:t>
            </a:r>
            <a:r>
              <a:rPr dirty="0" sz="1150" spc="1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19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rik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e</a:t>
            </a:r>
            <a:r>
              <a:rPr dirty="0" sz="10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lukikσ ǐecipes?</a:t>
            </a:r>
            <a:endParaRPr sz="1150">
              <a:latin typeface="Microsoft Sans Serif"/>
              <a:cs typeface="Microsoft Sans Serif"/>
            </a:endParaRPr>
          </a:p>
          <a:p>
            <a:pPr marL="252095" marR="43180">
              <a:lnSpc>
                <a:spcPct val="135900"/>
              </a:lnSpc>
              <a:spcBef>
                <a:spcPts val="375"/>
              </a:spcBef>
            </a:pP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Whal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lechkical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slakdaǐds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pǐovekakce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waleǐmaǐkikσ</a:t>
            </a:r>
            <a:r>
              <a:rPr dirty="0" sz="1150" spc="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aǐe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bolh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pǐaclical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erreclive?</a:t>
            </a:r>
            <a:endParaRPr sz="1150">
              <a:latin typeface="Microsoft Sans Serif"/>
              <a:cs typeface="Microsoft Sans Serif"/>
            </a:endParaRPr>
          </a:p>
          <a:p>
            <a:pPr marL="252095" marR="5080">
              <a:lnSpc>
                <a:spcPct val="135900"/>
              </a:lnSpc>
              <a:spcBef>
                <a:spcPts val="450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How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cak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plalroǐm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desiσk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(meladala,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laσσikσ,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upload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coklǐols)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be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ǐewoǐked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lo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ǐeduce</a:t>
            </a:r>
            <a:r>
              <a:rPr dirty="0" sz="1150" spc="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kok</a:t>
            </a:r>
            <a:r>
              <a:rPr dirty="0" sz="100" spc="60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 spc="10">
                <a:solidFill>
                  <a:srgbClr val="D7E5D8"/>
                </a:solidFill>
                <a:latin typeface="Microsoft Sans Serif"/>
                <a:cs typeface="Microsoft Sans Serif"/>
              </a:rPr>
              <a:t>cokseksual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pǐolireǐaliok?</a:t>
            </a:r>
            <a:endParaRPr sz="1150">
              <a:latin typeface="Microsoft Sans Serif"/>
              <a:cs typeface="Microsoft Sans Serif"/>
            </a:endParaRPr>
          </a:p>
          <a:p>
            <a:pPr marL="252095" marR="52705">
              <a:lnSpc>
                <a:spcPct val="135900"/>
              </a:lnSpc>
              <a:spcBef>
                <a:spcPts val="450"/>
              </a:spcBef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Which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ǐeσulaloǐQ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leveǐs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(kaliokal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35">
                <a:solidFill>
                  <a:srgbClr val="D7E5D8"/>
                </a:solidFill>
                <a:latin typeface="Microsoft Sans Serif"/>
                <a:cs typeface="Microsoft Sans Serif"/>
              </a:rPr>
              <a:t>vs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ikleǐkaliokal)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orreǐ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 lhe </a:t>
            </a:r>
            <a:r>
              <a:rPr dirty="0" sz="1150" spc="-20">
                <a:solidFill>
                  <a:srgbClr val="D7E5D8"/>
                </a:solidFill>
                <a:latin typeface="Microsoft Sans Serif"/>
                <a:cs typeface="Microsoft Sans Serif"/>
              </a:rPr>
              <a:t>mosl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ǐealislic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palh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lo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meakikσrul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limils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ok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cǐealiok?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0" y="2619971"/>
            <a:ext cx="76200" cy="7620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021095" y="2514473"/>
            <a:ext cx="321818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630" b="1">
                <a:solidFill>
                  <a:srgbClr val="D7E5D8"/>
                </a:solidFill>
                <a:latin typeface="Trebuchet MS"/>
                <a:cs typeface="Trebuchet MS"/>
              </a:rPr>
              <a:t>Suggested</a:t>
            </a:r>
            <a:r>
              <a:rPr dirty="0" sz="1450" spc="3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540" b="1">
                <a:solidFill>
                  <a:srgbClr val="D7E5D8"/>
                </a:solidFill>
                <a:latin typeface="Trebuchet MS"/>
                <a:cs typeface="Trebuchet MS"/>
              </a:rPr>
              <a:t>next</a:t>
            </a:r>
            <a:r>
              <a:rPr dirty="0" sz="1450" spc="45" b="1">
                <a:solidFill>
                  <a:srgbClr val="D7E5D8"/>
                </a:solidFill>
                <a:latin typeface="Trebuchet MS"/>
                <a:cs typeface="Trebuchet MS"/>
              </a:rPr>
              <a:t> </a:t>
            </a:r>
            <a:r>
              <a:rPr dirty="0" sz="1450" spc="555" b="1">
                <a:solidFill>
                  <a:srgbClr val="D7E5D8"/>
                </a:solidFill>
                <a:latin typeface="Trebuchet MS"/>
                <a:cs typeface="Trebuchet MS"/>
              </a:rPr>
              <a:t>steps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021093" y="2817653"/>
            <a:ext cx="4554855" cy="15684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2095" marR="15875" indent="-240029">
              <a:lnSpc>
                <a:spcPct val="135900"/>
              </a:lnSpc>
              <a:spcBef>
                <a:spcPts val="90"/>
              </a:spcBef>
              <a:tabLst>
                <a:tab pos="252095" algn="l"/>
              </a:tabLst>
            </a:pP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ı.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	Replicale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lhe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meladala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40">
                <a:solidFill>
                  <a:srgbClr val="D7E5D8"/>
                </a:solidFill>
                <a:latin typeface="Microsoft Sans Serif"/>
                <a:cs typeface="Microsoft Sans Serif"/>
              </a:rPr>
              <a:t>akalQsis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olheǐ</a:t>
            </a:r>
            <a:r>
              <a:rPr dirty="0" sz="1150" spc="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ǐeposiloǐies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3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closed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commukilies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wheǐe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elhical</a:t>
            </a:r>
            <a:r>
              <a:rPr dirty="0" sz="1150" spc="7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reasible.</a:t>
            </a:r>
            <a:endParaRPr sz="1150">
              <a:latin typeface="Microsoft Sans Serif"/>
              <a:cs typeface="Microsoft Sans Serif"/>
            </a:endParaRPr>
          </a:p>
          <a:p>
            <a:pPr marL="252095" marR="5080" indent="-240029">
              <a:lnSpc>
                <a:spcPct val="135900"/>
              </a:lnSpc>
              <a:spcBef>
                <a:spcPts val="450"/>
              </a:spcBef>
              <a:buAutoNum type="arabicPeriod" startAt="2"/>
              <a:tabLst>
                <a:tab pos="252095" algn="l"/>
              </a:tabLst>
            </a:pP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PǐololQpe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aulomaled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ǐed</a:t>
            </a:r>
            <a:r>
              <a:rPr dirty="0" sz="100" spc="55">
                <a:solidFill>
                  <a:srgbClr val="D7E5D8"/>
                </a:solidFill>
                <a:latin typeface="Ink Free"/>
                <a:cs typeface="Ink Free"/>
              </a:rPr>
              <a:t>-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rlaσ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45">
                <a:solidFill>
                  <a:srgbClr val="D7E5D8"/>
                </a:solidFill>
                <a:latin typeface="Microsoft Sans Serif"/>
                <a:cs typeface="Microsoft Sans Serif"/>
              </a:rPr>
              <a:t>delecloǐs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model</a:t>
            </a:r>
            <a:r>
              <a:rPr dirty="0" sz="1150" spc="-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60">
                <a:solidFill>
                  <a:srgbClr val="D7E5D8"/>
                </a:solidFill>
                <a:latin typeface="Microsoft Sans Serif"/>
                <a:cs typeface="Microsoft Sans Serif"/>
              </a:rPr>
              <a:t>meladala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akd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descǐiplioks.</a:t>
            </a:r>
            <a:endParaRPr sz="1150">
              <a:latin typeface="Microsoft Sans Serif"/>
              <a:cs typeface="Microsoft Sans Serif"/>
            </a:endParaRPr>
          </a:p>
          <a:p>
            <a:pPr marL="252095" marR="162560" indent="-240029">
              <a:lnSpc>
                <a:spcPct val="135900"/>
              </a:lnSpc>
              <a:spcBef>
                <a:spcPts val="450"/>
              </a:spcBef>
              <a:buAutoNum type="arabicPeriod" startAt="2"/>
              <a:tabLst>
                <a:tab pos="252095" algn="l"/>
              </a:tabLst>
            </a:pP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Develop</a:t>
            </a:r>
            <a:r>
              <a:rPr dirty="0" sz="1150" spc="1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</a:t>
            </a:r>
            <a:r>
              <a:rPr dirty="0" sz="1150" spc="1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coksekl</a:t>
            </a:r>
            <a:r>
              <a:rPr dirty="0" sz="1150" spc="1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veǐiricaliok</a:t>
            </a:r>
            <a:r>
              <a:rPr dirty="0" sz="1150" spc="1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rǐamewoǐk</a:t>
            </a:r>
            <a:r>
              <a:rPr dirty="0" sz="1150" spc="1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90">
                <a:solidFill>
                  <a:srgbClr val="D7E5D8"/>
                </a:solidFill>
                <a:latin typeface="Microsoft Sans Serif"/>
                <a:cs typeface="Microsoft Sans Serif"/>
              </a:rPr>
              <a:t>lhal</a:t>
            </a:r>
            <a:r>
              <a:rPr dirty="0" sz="1150" spc="13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plalroǐms</a:t>
            </a:r>
            <a:r>
              <a:rPr dirty="0" sz="1150" spc="12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could </a:t>
            </a:r>
            <a:r>
              <a:rPr dirty="0" sz="1150" spc="55">
                <a:solidFill>
                  <a:srgbClr val="D7E5D8"/>
                </a:solidFill>
                <a:latin typeface="Microsoft Sans Serif"/>
                <a:cs typeface="Microsoft Sans Serif"/>
              </a:rPr>
              <a:t>adopl</a:t>
            </a:r>
            <a:r>
              <a:rPr dirty="0" sz="1150" spc="-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50">
                <a:solidFill>
                  <a:srgbClr val="D7E5D8"/>
                </a:solidFill>
                <a:latin typeface="Microsoft Sans Serif"/>
                <a:cs typeface="Microsoft Sans Serif"/>
              </a:rPr>
              <a:t>roǐ</a:t>
            </a:r>
            <a:r>
              <a:rPr dirty="0" sz="1150" spc="-4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likekess</a:t>
            </a:r>
            <a:r>
              <a:rPr dirty="0" sz="1150" spc="-4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models.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7372" y="5361781"/>
            <a:ext cx="6866255" cy="205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50" spc="-25">
                <a:solidFill>
                  <a:srgbClr val="D7E5D8"/>
                </a:solidFill>
                <a:latin typeface="Microsoft Sans Serif"/>
                <a:cs typeface="Microsoft Sans Serif"/>
              </a:rPr>
              <a:t>Hhakk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0">
                <a:solidFill>
                  <a:srgbClr val="D7E5D8"/>
                </a:solidFill>
                <a:latin typeface="Microsoft Sans Serif"/>
                <a:cs typeface="Microsoft Sans Serif"/>
              </a:rPr>
              <a:t>Qou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270">
                <a:solidFill>
                  <a:srgbClr val="D7E5D8"/>
                </a:solidFill>
                <a:latin typeface="Microsoft Sans Serif"/>
                <a:cs typeface="Microsoft Sans Serif"/>
              </a:rPr>
              <a:t>—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queslioks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cǐiliques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welcome.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Rereǐekces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akd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supplemeklal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koles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1150" spc="85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>
                <a:solidFill>
                  <a:srgbClr val="D7E5D8"/>
                </a:solidFill>
                <a:latin typeface="Microsoft Sans Serif"/>
                <a:cs typeface="Microsoft Sans Serif"/>
              </a:rPr>
              <a:t>ok</a:t>
            </a:r>
            <a:r>
              <a:rPr dirty="0" sz="1150" spc="80">
                <a:solidFill>
                  <a:srgbClr val="D7E5D8"/>
                </a:solidFill>
                <a:latin typeface="Microsoft Sans Serif"/>
                <a:cs typeface="Microsoft Sans Serif"/>
              </a:rPr>
              <a:t> </a:t>
            </a:r>
            <a:r>
              <a:rPr dirty="0" sz="1150" spc="-10">
                <a:solidFill>
                  <a:srgbClr val="D7E5D8"/>
                </a:solidFill>
                <a:latin typeface="Microsoft Sans Serif"/>
                <a:cs typeface="Microsoft Sans Serif"/>
              </a:rPr>
              <a:t>ǐequesl.</a:t>
            </a:r>
            <a:endParaRPr sz="1150">
              <a:latin typeface="Microsoft Sans Serif"/>
              <a:cs typeface="Microsoft Sans Serif"/>
            </a:endParaRPr>
          </a:p>
        </p:txBody>
      </p:sp>
      <p:pic>
        <p:nvPicPr>
          <p:cNvPr id="15" name="object 15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8F00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2026-03-05T12:59:16Z</dcterms:created>
  <dcterms:modified xsi:type="dcterms:W3CDTF">2026-03-05T12:59:16Z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2026-03-05T00:00:00Z</vt:filetime>
  </property>
  <property fmtid="{D5CDD505-2E9C-101B-9397-08002B2CF9AE}" pid="5" name="Producer">
    <vt:lpwstr>pdf-lib (https://github.com/Hopding/pdf-lib)</vt:lpwstr>
  </property>
</Properties>
</file>